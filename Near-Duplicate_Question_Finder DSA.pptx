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9" r:id="rId8"/>
    <p:sldId id="259" r:id="rId9"/>
    <p:sldId id="270" r:id="rId10"/>
    <p:sldId id="271" r:id="rId11"/>
    <p:sldId id="272" r:id="rId12"/>
    <p:sldId id="266" r:id="rId13"/>
    <p:sldId id="267" r:id="rId14"/>
    <p:sldId id="260"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th Manchi" userId="d13a5970228f81c3" providerId="LiveId" clId="{60DDAA69-0815-47C4-BBC5-B0AE25B61863}"/>
    <pc:docChg chg="modSld">
      <pc:chgData name="Shashanth Manchi" userId="d13a5970228f81c3" providerId="LiveId" clId="{60DDAA69-0815-47C4-BBC5-B0AE25B61863}" dt="2026-09-11T04:47:26.899" v="45" actId="20577"/>
      <pc:docMkLst>
        <pc:docMk/>
      </pc:docMkLst>
      <pc:sldChg chg="modSp mod">
        <pc:chgData name="Shashanth Manchi" userId="d13a5970228f81c3" providerId="LiveId" clId="{60DDAA69-0815-47C4-BBC5-B0AE25B61863}" dt="2026-09-11T04:47:26.899" v="45" actId="20577"/>
        <pc:sldMkLst>
          <pc:docMk/>
          <pc:sldMk cId="0" sldId="256"/>
        </pc:sldMkLst>
        <pc:spChg chg="mod">
          <ac:chgData name="Shashanth Manchi" userId="d13a5970228f81c3" providerId="LiveId" clId="{60DDAA69-0815-47C4-BBC5-B0AE25B61863}" dt="2026-09-11T04:47:26.899" v="45" actId="20577"/>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Near-Duplicate Question Finder for Q&amp;A Platforms</a:t>
            </a:r>
          </a:p>
        </p:txBody>
      </p:sp>
      <p:sp>
        <p:nvSpPr>
          <p:cNvPr id="3" name="Subtitle 2"/>
          <p:cNvSpPr>
            <a:spLocks noGrp="1"/>
          </p:cNvSpPr>
          <p:nvPr>
            <p:ph type="subTitle" idx="1"/>
          </p:nvPr>
        </p:nvSpPr>
        <p:spPr>
          <a:xfrm>
            <a:off x="2260072" y="3420000"/>
            <a:ext cx="7671855" cy="1550000"/>
          </a:xfrm>
        </p:spPr>
        <p:txBody>
          <a:bodyPr/>
          <a:lstStyle/>
          <a:p>
            <a:r>
              <a:rPr lang="en-US" sz="1500" dirty="0">
                <a:solidFill>
                  <a:srgbClr val="0070C0"/>
                </a:solidFill>
              </a:rPr>
              <a:t>Team Members:</a:t>
            </a:r>
          </a:p>
          <a:p>
            <a:r>
              <a:rPr lang="en-US" sz="1500" dirty="0">
                <a:solidFill>
                  <a:srgbClr val="0070C0"/>
                </a:solidFill>
              </a:rPr>
              <a:t> M Shashanth   |   Roll Number: [2520090129]</a:t>
            </a:r>
          </a:p>
          <a:p>
            <a:r>
              <a:rPr lang="en-US" sz="1500" dirty="0">
                <a:solidFill>
                  <a:srgbClr val="0070C0"/>
                </a:solidFill>
              </a:rPr>
              <a:t>  M Akshay        |   Roll Number: [2520090065]</a:t>
            </a:r>
          </a:p>
          <a:p>
            <a:endParaRPr lang="en-US" sz="1500"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5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5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Mrs. Ch. Anitha</a:t>
            </a:r>
            <a:r>
              <a:rPr lang="en-US" sz="15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Assistant Professor, CS&amp;IT</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10" name="TextBox 9"/>
          <p:cNvSpPr txBox="1"/>
          <p:nvPr/>
        </p:nvSpPr>
        <p:spPr>
          <a:xfrm>
            <a:off x="3736109" y="780000"/>
            <a:ext cx="7700000" cy="5700000"/>
          </a:xfrm>
          <a:prstGeom prst="rect">
            <a:avLst/>
          </a:prstGeom>
          <a:noFill/>
        </p:spPr>
        <p:txBody>
          <a:bodyPr wrap="square">
            <a:spAutoFit/>
          </a:bodyPr>
          <a:lstStyle/>
          <a:p>
            <a:pPr marL="228600" indent="-228600" algn="l">
              <a:lnSpc>
                <a:spcPct val="105000"/>
              </a:lnSpc>
              <a:spcAft>
                <a:spcPts val="800"/>
              </a:spcAft>
              <a:buFont typeface="Arial"/>
              <a:buChar char="•"/>
            </a:pPr>
            <a:r>
              <a:rPr sz="1800">
                <a:solidFill>
                  <a:srgbClr val="000000"/>
                </a:solidFill>
                <a:latin typeface="Calibri"/>
              </a:rPr>
              <a:t>Abstract</a:t>
            </a:r>
          </a:p>
          <a:p>
            <a:pPr marL="228600" indent="-228600" algn="l">
              <a:lnSpc>
                <a:spcPct val="105000"/>
              </a:lnSpc>
              <a:spcAft>
                <a:spcPts val="800"/>
              </a:spcAft>
              <a:buFont typeface="Arial"/>
              <a:buChar char="•"/>
            </a:pPr>
            <a:r>
              <a:rPr sz="1800">
                <a:solidFill>
                  <a:srgbClr val="000000"/>
                </a:solidFill>
                <a:latin typeface="Calibri"/>
              </a:rPr>
              <a:t>Introduction</a:t>
            </a:r>
          </a:p>
          <a:p>
            <a:pPr marL="228600" indent="-228600" algn="l">
              <a:lnSpc>
                <a:spcPct val="105000"/>
              </a:lnSpc>
              <a:spcAft>
                <a:spcPts val="800"/>
              </a:spcAft>
              <a:buFont typeface="Arial"/>
              <a:buChar char="•"/>
            </a:pPr>
            <a:r>
              <a:rPr sz="1800">
                <a:solidFill>
                  <a:srgbClr val="000000"/>
                </a:solidFill>
                <a:latin typeface="Calibri"/>
              </a:rPr>
              <a:t>Literature Survey</a:t>
            </a:r>
          </a:p>
          <a:p>
            <a:pPr marL="228600" indent="-228600" algn="l">
              <a:lnSpc>
                <a:spcPct val="105000"/>
              </a:lnSpc>
              <a:spcAft>
                <a:spcPts val="800"/>
              </a:spcAft>
              <a:buFont typeface="Arial"/>
              <a:buChar char="•"/>
            </a:pPr>
            <a:r>
              <a:rPr sz="1800">
                <a:solidFill>
                  <a:srgbClr val="000000"/>
                </a:solidFill>
                <a:latin typeface="Calibri"/>
              </a:rPr>
              <a:t>Problem Statement &amp; Objectives</a:t>
            </a:r>
          </a:p>
          <a:p>
            <a:pPr marL="228600" indent="-228600" algn="l">
              <a:lnSpc>
                <a:spcPct val="105000"/>
              </a:lnSpc>
              <a:spcAft>
                <a:spcPts val="800"/>
              </a:spcAft>
              <a:buFont typeface="Arial"/>
              <a:buChar char="•"/>
            </a:pPr>
            <a:r>
              <a:rPr sz="1800">
                <a:solidFill>
                  <a:srgbClr val="000000"/>
                </a:solidFill>
                <a:latin typeface="Calibri"/>
              </a:rPr>
              <a:t>Proposed Methodology</a:t>
            </a:r>
          </a:p>
          <a:p>
            <a:pPr marL="228600" indent="-228600" algn="l">
              <a:lnSpc>
                <a:spcPct val="105000"/>
              </a:lnSpc>
              <a:spcAft>
                <a:spcPts val="800"/>
              </a:spcAft>
              <a:buFont typeface="Arial"/>
              <a:buChar char="•"/>
            </a:pPr>
            <a:r>
              <a:rPr sz="1800">
                <a:solidFill>
                  <a:srgbClr val="000000"/>
                </a:solidFill>
                <a:latin typeface="Calibri"/>
              </a:rPr>
              <a:t>Flow Chart</a:t>
            </a:r>
          </a:p>
          <a:p>
            <a:pPr marL="228600" indent="-228600" algn="l">
              <a:lnSpc>
                <a:spcPct val="105000"/>
              </a:lnSpc>
              <a:spcAft>
                <a:spcPts val="800"/>
              </a:spcAft>
              <a:buFont typeface="Arial"/>
              <a:buChar char="•"/>
            </a:pPr>
            <a:r>
              <a:rPr sz="1800">
                <a:solidFill>
                  <a:srgbClr val="000000"/>
                </a:solidFill>
                <a:latin typeface="Calibri"/>
              </a:rPr>
              <a:t>DSA Concepts Used</a:t>
            </a:r>
          </a:p>
          <a:p>
            <a:pPr marL="228600" indent="-228600" algn="l">
              <a:lnSpc>
                <a:spcPct val="105000"/>
              </a:lnSpc>
              <a:spcAft>
                <a:spcPts val="800"/>
              </a:spcAft>
              <a:buFont typeface="Arial"/>
              <a:buChar char="•"/>
            </a:pPr>
            <a:r>
              <a:rPr sz="1800">
                <a:solidFill>
                  <a:srgbClr val="000000"/>
                </a:solidFill>
                <a:latin typeface="Calibri"/>
              </a:rPr>
              <a:t>Text Preprocessing, Shingling &amp; Jaccard Similarity</a:t>
            </a:r>
          </a:p>
          <a:p>
            <a:pPr marL="228600" indent="-228600" algn="l">
              <a:lnSpc>
                <a:spcPct val="105000"/>
              </a:lnSpc>
              <a:spcAft>
                <a:spcPts val="800"/>
              </a:spcAft>
              <a:buFont typeface="Arial"/>
              <a:buChar char="•"/>
            </a:pPr>
            <a:r>
              <a:rPr sz="1800">
                <a:solidFill>
                  <a:srgbClr val="000000"/>
                </a:solidFill>
                <a:latin typeface="Calibri"/>
              </a:rPr>
              <a:t>Priority Queue &amp; Ranking</a:t>
            </a:r>
          </a:p>
          <a:p>
            <a:pPr marL="228600" indent="-228600" algn="l">
              <a:lnSpc>
                <a:spcPct val="105000"/>
              </a:lnSpc>
              <a:spcAft>
                <a:spcPts val="800"/>
              </a:spcAft>
              <a:buFont typeface="Arial"/>
              <a:buChar char="•"/>
            </a:pPr>
            <a:r>
              <a:rPr sz="1800">
                <a:solidFill>
                  <a:srgbClr val="000000"/>
                </a:solidFill>
                <a:latin typeface="Calibri"/>
              </a:rPr>
              <a:t>Hardware &amp; Software Requirements</a:t>
            </a:r>
          </a:p>
          <a:p>
            <a:pPr marL="228600" indent="-228600" algn="l">
              <a:lnSpc>
                <a:spcPct val="105000"/>
              </a:lnSpc>
              <a:spcAft>
                <a:spcPts val="800"/>
              </a:spcAft>
              <a:buFont typeface="Arial"/>
              <a:buChar char="•"/>
            </a:pPr>
            <a:r>
              <a:rPr sz="1800">
                <a:solidFill>
                  <a:srgbClr val="000000"/>
                </a:solidFill>
                <a:latin typeface="Calibri"/>
              </a:rPr>
              <a:t>Results</a:t>
            </a:r>
          </a:p>
          <a:p>
            <a:pPr marL="228600" indent="-228600" algn="l">
              <a:lnSpc>
                <a:spcPct val="105000"/>
              </a:lnSpc>
              <a:spcAft>
                <a:spcPts val="800"/>
              </a:spcAft>
              <a:buFont typeface="Arial"/>
              <a:buChar char="•"/>
            </a:pPr>
            <a:r>
              <a:rPr sz="1800">
                <a:solidFill>
                  <a:srgbClr val="000000"/>
                </a:solidFill>
                <a:latin typeface="Calibri"/>
              </a:rPr>
              <a:t>Conclusion</a:t>
            </a:r>
          </a:p>
          <a:p>
            <a:pPr marL="228600" indent="-228600" algn="l">
              <a:lnSpc>
                <a:spcPct val="105000"/>
              </a:lnSpc>
              <a:spcAft>
                <a:spcPts val="800"/>
              </a:spcAft>
              <a:buFont typeface="Arial"/>
              <a:buChar char="•"/>
            </a:pPr>
            <a:r>
              <a:rPr sz="1800">
                <a:solidFill>
                  <a:srgbClr val="000000"/>
                </a:solidFill>
                <a:latin typeface="Calibri"/>
              </a:rPr>
              <a:t>Future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p:cNvSpPr txBox="1"/>
          <p:nvPr/>
        </p:nvSpPr>
        <p:spPr>
          <a:xfrm>
            <a:off x="3010619" y="1052423"/>
            <a:ext cx="8425490" cy="3785652"/>
          </a:xfrm>
          <a:prstGeom prst="rect">
            <a:avLst/>
          </a:prstGeom>
          <a:noFill/>
        </p:spPr>
        <p:txBody>
          <a:bodyPr wrap="square">
            <a:spAutoFit/>
          </a:bodyPr>
          <a:lstStyle/>
          <a:p>
            <a:pPr>
              <a:spcAft>
                <a:spcPts val="1600"/>
              </a:spcAft>
            </a:pPr>
            <a:r>
              <a:rPr lang="en-IN" sz="2000" dirty="0"/>
              <a:t>The </a:t>
            </a:r>
            <a:r>
              <a:rPr lang="en-IN" sz="2000" b="1" dirty="0"/>
              <a:t>Near-Duplicate Question Finder for Q&amp;A Platforms</a:t>
            </a:r>
            <a:r>
              <a:rPr lang="en-IN" sz="2000" dirty="0"/>
              <a:t> is designed to identify similar and duplicate questions before they are added to a database, where duplicate content can increase redundancy and reduce search efficiency. The system preprocesses user questions using text normalization, tokenization, stop-word removal, and shingling to create a suitable representation for comparison. It uses </a:t>
            </a:r>
            <a:r>
              <a:rPr lang="en-IN" sz="2000" b="1" dirty="0"/>
              <a:t>HashMap</a:t>
            </a:r>
            <a:r>
              <a:rPr lang="en-IN" sz="2000" dirty="0"/>
              <a:t> and </a:t>
            </a:r>
            <a:r>
              <a:rPr lang="en-IN" sz="2000" b="1" dirty="0"/>
              <a:t>HashSet</a:t>
            </a:r>
            <a:r>
              <a:rPr lang="en-IN" sz="2000" dirty="0"/>
              <a:t> for efficient indexing and retrieval of question features, while </a:t>
            </a:r>
            <a:r>
              <a:rPr lang="en-IN" sz="2000" b="1" dirty="0"/>
              <a:t>Jaccard Similarity</a:t>
            </a:r>
            <a:r>
              <a:rPr lang="en-IN" sz="2000" dirty="0"/>
              <a:t> measures the similarity between the new question and existing questions. A </a:t>
            </a:r>
            <a:r>
              <a:rPr lang="en-IN" sz="2000" b="1" dirty="0"/>
              <a:t>Priority Queue</a:t>
            </a:r>
            <a:r>
              <a:rPr lang="en-IN" sz="2000" dirty="0"/>
              <a:t> is then used to rank the most similar questions based on their similarity scores. By displaying relevant existing questions to users, the system helps reduce duplicate content, improve information organization, and enhance the overall search experience on Q&amp;A platforms.</a:t>
            </a:r>
            <a:endParaRPr sz="2000" dirty="0">
              <a:solidFill>
                <a:srgbClr val="000000"/>
              </a:solidFill>
              <a:latin typeface="Calibri"/>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p:cNvSpPr txBox="1"/>
          <p:nvPr/>
        </p:nvSpPr>
        <p:spPr>
          <a:xfrm>
            <a:off x="3140885" y="931654"/>
            <a:ext cx="8295223" cy="3719666"/>
          </a:xfrm>
          <a:prstGeom prst="rect">
            <a:avLst/>
          </a:prstGeom>
          <a:noFill/>
        </p:spPr>
        <p:txBody>
          <a:bodyPr wrap="square">
            <a:spAutoFit/>
          </a:bodyPr>
          <a:lstStyle/>
          <a:p>
            <a:pPr>
              <a:spcAft>
                <a:spcPts val="1000"/>
              </a:spcAft>
            </a:pPr>
            <a:r>
              <a:rPr lang="en-IN" dirty="0"/>
              <a:t>Q&amp;A platforms contain thousands or even millions of questions covering a wide range of topics. As the number of users increases, many users may ask questions that are identical or very similar to questions that have already been posted. These questions may use different words, sentence structures, or writing styles even though they refer to the same problem. Exact string matching cannot effectively identify many of these near-duplicate questions because the text is not exactly the same. Duplicate questions increase content redundancy and make it more difficult for users to find the most relevant information. Manually checking every new question against existing questions is also time-consuming and inefficient, especially for large databases. Therefore, our project proposes an automated approach that preprocesses questions, compares their textual features, and identifies the most similar existing questions. The system then ranks these questions and presents the most relevant matches to the user, helping reduce redundancy and improve the overall search experience.</a:t>
            </a:r>
            <a:endParaRPr sz="1800" dirty="0">
              <a:solidFill>
                <a:srgbClr val="000000"/>
              </a:solidFill>
              <a:latin typeface="Calibri"/>
            </a:endParaRPr>
          </a:p>
        </p:txBody>
      </p:sp>
      <p:sp>
        <p:nvSpPr>
          <p:cNvPr id="5" name="Rounded Rectangle 4"/>
          <p:cNvSpPr/>
          <p:nvPr/>
        </p:nvSpPr>
        <p:spPr>
          <a:xfrm>
            <a:off x="3140886" y="4830579"/>
            <a:ext cx="7700000" cy="1550000"/>
          </a:xfrm>
          <a:prstGeom prst="roundRect">
            <a:avLst/>
          </a:prstGeom>
          <a:solidFill>
            <a:srgbClr val="FBF0F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80000" tIns="90000" rIns="180000" rtlCol="0" anchor="ctr"/>
          <a:lstStyle/>
          <a:p>
            <a:pPr algn="l"/>
            <a:r>
              <a:rPr sz="1400" b="1">
                <a:solidFill>
                  <a:srgbClr val="C00000"/>
                </a:solidFill>
                <a:latin typeface="Calibri"/>
              </a:rPr>
              <a:t>Example</a:t>
            </a:r>
          </a:p>
          <a:p>
            <a:r>
              <a:rPr sz="1500" i="1">
                <a:solidFill>
                  <a:srgbClr val="000000"/>
                </a:solidFill>
                <a:latin typeface="Calibri"/>
              </a:rPr>
              <a:t>“How do I reverse a linked list in Java?”</a:t>
            </a:r>
          </a:p>
          <a:p>
            <a:r>
              <a:rPr sz="1300">
                <a:solidFill>
                  <a:srgbClr val="555555"/>
                </a:solidFill>
                <a:latin typeface="Calibri"/>
              </a:rPr>
              <a:t>vs.</a:t>
            </a:r>
          </a:p>
          <a:p>
            <a:r>
              <a:rPr sz="1500" i="1">
                <a:solidFill>
                  <a:srgbClr val="000000"/>
                </a:solidFill>
                <a:latin typeface="Calibri"/>
              </a:rPr>
              <a:t>“How can I reverse a Java linked list?”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p:cNvGraphicFramePr>
            <a:graphicFrameLocks noGrp="1"/>
          </p:cNvGraphicFramePr>
          <p:nvPr/>
        </p:nvGraphicFramePr>
        <p:xfrm>
          <a:off x="3736109" y="950000"/>
          <a:ext cx="7900000" cy="330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gridCol w="2700000">
                  <a:extLst>
                    <a:ext uri="{9D8B030D-6E8A-4147-A177-3AD203B41FA5}">
                      <a16:colId xmlns:a16="http://schemas.microsoft.com/office/drawing/2014/main" val="20002"/>
                    </a:ext>
                  </a:extLst>
                </a:gridCol>
              </a:tblGrid>
              <a:tr h="550000">
                <a:tc>
                  <a:txBody>
                    <a:bodyPr/>
                    <a:lstStyle/>
                    <a:p>
                      <a:r>
                        <a:rPr sz="1400" b="1">
                          <a:solidFill>
                            <a:srgbClr val="FFFFFF"/>
                          </a:solidFill>
                          <a:latin typeface="Calibri"/>
                        </a:rPr>
                        <a:t>Approach</a:t>
                      </a:r>
                    </a:p>
                  </a:txBody>
                  <a:tcPr marL="60000" marR="60000" marT="30000" marB="30000" anchor="ctr">
                    <a:solidFill>
                      <a:srgbClr val="C00000"/>
                    </a:solidFill>
                  </a:tcPr>
                </a:tc>
                <a:tc>
                  <a:txBody>
                    <a:bodyPr/>
                    <a:lstStyle/>
                    <a:p>
                      <a:r>
                        <a:rPr sz="1400" b="1">
                          <a:solidFill>
                            <a:srgbClr val="FFFFFF"/>
                          </a:solidFill>
                          <a:latin typeface="Calibri"/>
                        </a:rPr>
                        <a:t>Technique</a:t>
                      </a:r>
                    </a:p>
                  </a:txBody>
                  <a:tcPr marL="60000" marR="60000" marT="30000" marB="30000" anchor="ctr">
                    <a:solidFill>
                      <a:srgbClr val="C00000"/>
                    </a:solidFill>
                  </a:tcPr>
                </a:tc>
                <a:tc>
                  <a:txBody>
                    <a:bodyPr/>
                    <a:lstStyle/>
                    <a:p>
                      <a:r>
                        <a:rPr sz="1400" b="1">
                          <a:solidFill>
                            <a:srgbClr val="FFFFFF"/>
                          </a:solidFill>
                          <a:latin typeface="Calibri"/>
                        </a:rPr>
                        <a:t>Limitation</a:t>
                      </a:r>
                    </a:p>
                  </a:txBody>
                  <a:tcPr marL="60000" marR="60000" marT="30000" marB="30000" anchor="ctr">
                    <a:solidFill>
                      <a:srgbClr val="C00000"/>
                    </a:solidFill>
                  </a:tcPr>
                </a:tc>
                <a:extLst>
                  <a:ext uri="{0D108BD9-81ED-4DB2-BD59-A6C34878D82A}">
                    <a16:rowId xmlns:a16="http://schemas.microsoft.com/office/drawing/2014/main" val="10000"/>
                  </a:ext>
                </a:extLst>
              </a:tr>
              <a:tr h="550000">
                <a:tc>
                  <a:txBody>
                    <a:bodyPr/>
                    <a:lstStyle/>
                    <a:p>
                      <a:r>
                        <a:rPr sz="1300" b="0">
                          <a:solidFill>
                            <a:srgbClr val="000000"/>
                          </a:solidFill>
                          <a:latin typeface="Calibri"/>
                        </a:rPr>
                        <a:t>Exact Matching</a:t>
                      </a:r>
                    </a:p>
                  </a:txBody>
                  <a:tcPr marL="60000" marR="60000" marT="30000" marB="30000" anchor="ctr">
                    <a:solidFill>
                      <a:srgbClr val="FFFFFF"/>
                    </a:solidFill>
                  </a:tcPr>
                </a:tc>
                <a:tc>
                  <a:txBody>
                    <a:bodyPr/>
                    <a:lstStyle/>
                    <a:p>
                      <a:r>
                        <a:rPr sz="1300" b="0">
                          <a:solidFill>
                            <a:srgbClr val="000000"/>
                          </a:solidFill>
                          <a:latin typeface="Calibri"/>
                        </a:rPr>
                        <a:t>String comparison</a:t>
                      </a:r>
                    </a:p>
                  </a:txBody>
                  <a:tcPr marL="60000" marR="60000" marT="30000" marB="30000" anchor="ctr">
                    <a:solidFill>
                      <a:srgbClr val="FFFFFF"/>
                    </a:solidFill>
                  </a:tcPr>
                </a:tc>
                <a:tc>
                  <a:txBody>
                    <a:bodyPr/>
                    <a:lstStyle/>
                    <a:p>
                      <a:r>
                        <a:rPr sz="1300" b="0">
                          <a:solidFill>
                            <a:srgbClr val="000000"/>
                          </a:solidFill>
                          <a:latin typeface="Calibri"/>
                        </a:rPr>
                        <a:t>Misses wording variations</a:t>
                      </a:r>
                    </a:p>
                  </a:txBody>
                  <a:tcPr marL="60000" marR="60000" marT="30000" marB="30000" anchor="ctr">
                    <a:solidFill>
                      <a:srgbClr val="FFFFFF"/>
                    </a:solidFill>
                  </a:tcPr>
                </a:tc>
                <a:extLst>
                  <a:ext uri="{0D108BD9-81ED-4DB2-BD59-A6C34878D82A}">
                    <a16:rowId xmlns:a16="http://schemas.microsoft.com/office/drawing/2014/main" val="10001"/>
                  </a:ext>
                </a:extLst>
              </a:tr>
              <a:tr h="550000">
                <a:tc>
                  <a:txBody>
                    <a:bodyPr/>
                    <a:lstStyle/>
                    <a:p>
                      <a:r>
                        <a:rPr sz="1300" b="0">
                          <a:solidFill>
                            <a:srgbClr val="000000"/>
                          </a:solidFill>
                          <a:latin typeface="Calibri"/>
                        </a:rPr>
                        <a:t>Keyword Matching</a:t>
                      </a:r>
                    </a:p>
                  </a:txBody>
                  <a:tcPr marL="60000" marR="60000" marT="30000" marB="30000" anchor="ctr">
                    <a:solidFill>
                      <a:srgbClr val="F5F0F0"/>
                    </a:solidFill>
                  </a:tcPr>
                </a:tc>
                <a:tc>
                  <a:txBody>
                    <a:bodyPr/>
                    <a:lstStyle/>
                    <a:p>
                      <a:r>
                        <a:rPr sz="1300" b="0">
                          <a:solidFill>
                            <a:srgbClr val="000000"/>
                          </a:solidFill>
                          <a:latin typeface="Calibri"/>
                        </a:rPr>
                        <a:t>Common keywords</a:t>
                      </a:r>
                    </a:p>
                  </a:txBody>
                  <a:tcPr marL="60000" marR="60000" marT="30000" marB="30000" anchor="ctr">
                    <a:solidFill>
                      <a:srgbClr val="F5F0F0"/>
                    </a:solidFill>
                  </a:tcPr>
                </a:tc>
                <a:tc>
                  <a:txBody>
                    <a:bodyPr/>
                    <a:lstStyle/>
                    <a:p>
                      <a:r>
                        <a:rPr sz="1300" b="0">
                          <a:solidFill>
                            <a:srgbClr val="000000"/>
                          </a:solidFill>
                          <a:latin typeface="Calibri"/>
                        </a:rPr>
                        <a:t>Can produce irrelevant matches</a:t>
                      </a:r>
                    </a:p>
                  </a:txBody>
                  <a:tcPr marL="60000" marR="60000" marT="30000" marB="30000" anchor="ctr">
                    <a:solidFill>
                      <a:srgbClr val="F5F0F0"/>
                    </a:solidFill>
                  </a:tcPr>
                </a:tc>
                <a:extLst>
                  <a:ext uri="{0D108BD9-81ED-4DB2-BD59-A6C34878D82A}">
                    <a16:rowId xmlns:a16="http://schemas.microsoft.com/office/drawing/2014/main" val="10002"/>
                  </a:ext>
                </a:extLst>
              </a:tr>
              <a:tr h="550000">
                <a:tc>
                  <a:txBody>
                    <a:bodyPr/>
                    <a:lstStyle/>
                    <a:p>
                      <a:r>
                        <a:rPr sz="1300" b="0">
                          <a:solidFill>
                            <a:srgbClr val="000000"/>
                          </a:solidFill>
                          <a:latin typeface="Calibri"/>
                        </a:rPr>
                        <a:t>Text Similarity</a:t>
                      </a:r>
                    </a:p>
                  </a:txBody>
                  <a:tcPr marL="60000" marR="60000" marT="30000" marB="30000" anchor="ctr">
                    <a:solidFill>
                      <a:srgbClr val="FFFFFF"/>
                    </a:solidFill>
                  </a:tcPr>
                </a:tc>
                <a:tc>
                  <a:txBody>
                    <a:bodyPr/>
                    <a:lstStyle/>
                    <a:p>
                      <a:r>
                        <a:rPr sz="1300" b="0">
                          <a:solidFill>
                            <a:srgbClr val="000000"/>
                          </a:solidFill>
                          <a:latin typeface="Calibri"/>
                        </a:rPr>
                        <a:t>Set / vector comparison</a:t>
                      </a:r>
                    </a:p>
                  </a:txBody>
                  <a:tcPr marL="60000" marR="60000" marT="30000" marB="30000" anchor="ctr">
                    <a:solidFill>
                      <a:srgbClr val="FFFFFF"/>
                    </a:solidFill>
                  </a:tcPr>
                </a:tc>
                <a:tc>
                  <a:txBody>
                    <a:bodyPr/>
                    <a:lstStyle/>
                    <a:p>
                      <a:r>
                        <a:rPr sz="1300" b="0">
                          <a:solidFill>
                            <a:srgbClr val="000000"/>
                          </a:solidFill>
                          <a:latin typeface="Calibri"/>
                        </a:rPr>
                        <a:t>Can become expensive at scale</a:t>
                      </a:r>
                    </a:p>
                  </a:txBody>
                  <a:tcPr marL="60000" marR="60000" marT="30000" marB="30000" anchor="ctr">
                    <a:solidFill>
                      <a:srgbClr val="FFFFFF"/>
                    </a:solidFill>
                  </a:tcPr>
                </a:tc>
                <a:extLst>
                  <a:ext uri="{0D108BD9-81ED-4DB2-BD59-A6C34878D82A}">
                    <a16:rowId xmlns:a16="http://schemas.microsoft.com/office/drawing/2014/main" val="10003"/>
                  </a:ext>
                </a:extLst>
              </a:tr>
              <a:tr h="550000">
                <a:tc>
                  <a:txBody>
                    <a:bodyPr/>
                    <a:lstStyle/>
                    <a:p>
                      <a:r>
                        <a:rPr sz="1300" b="0">
                          <a:solidFill>
                            <a:srgbClr val="000000"/>
                          </a:solidFill>
                          <a:latin typeface="Calibri"/>
                        </a:rPr>
                        <a:t>Hash-based Methods</a:t>
                      </a:r>
                    </a:p>
                  </a:txBody>
                  <a:tcPr marL="60000" marR="60000" marT="30000" marB="30000" anchor="ctr">
                    <a:solidFill>
                      <a:srgbClr val="F5F0F0"/>
                    </a:solidFill>
                  </a:tcPr>
                </a:tc>
                <a:tc>
                  <a:txBody>
                    <a:bodyPr/>
                    <a:lstStyle/>
                    <a:p>
                      <a:r>
                        <a:rPr sz="1300" b="0">
                          <a:solidFill>
                            <a:srgbClr val="000000"/>
                          </a:solidFill>
                          <a:latin typeface="Calibri"/>
                        </a:rPr>
                        <a:t>Hashing / indexing</a:t>
                      </a:r>
                    </a:p>
                  </a:txBody>
                  <a:tcPr marL="60000" marR="60000" marT="30000" marB="30000" anchor="ctr">
                    <a:solidFill>
                      <a:srgbClr val="F5F0F0"/>
                    </a:solidFill>
                  </a:tcPr>
                </a:tc>
                <a:tc>
                  <a:txBody>
                    <a:bodyPr/>
                    <a:lstStyle/>
                    <a:p>
                      <a:r>
                        <a:rPr sz="1300" b="0">
                          <a:solidFill>
                            <a:srgbClr val="000000"/>
                          </a:solidFill>
                          <a:latin typeface="Calibri"/>
                        </a:rPr>
                        <a:t>Depends on representation</a:t>
                      </a:r>
                    </a:p>
                  </a:txBody>
                  <a:tcPr marL="60000" marR="60000" marT="30000" marB="30000" anchor="ctr">
                    <a:solidFill>
                      <a:srgbClr val="F5F0F0"/>
                    </a:solidFill>
                  </a:tcPr>
                </a:tc>
                <a:extLst>
                  <a:ext uri="{0D108BD9-81ED-4DB2-BD59-A6C34878D82A}">
                    <a16:rowId xmlns:a16="http://schemas.microsoft.com/office/drawing/2014/main" val="10004"/>
                  </a:ext>
                </a:extLst>
              </a:tr>
              <a:tr h="550000">
                <a:tc>
                  <a:txBody>
                    <a:bodyPr/>
                    <a:lstStyle/>
                    <a:p>
                      <a:r>
                        <a:rPr sz="1300" b="0">
                          <a:solidFill>
                            <a:srgbClr val="000000"/>
                          </a:solidFill>
                          <a:latin typeface="Calibri"/>
                        </a:rPr>
                        <a:t>Proposed Approach</a:t>
                      </a:r>
                    </a:p>
                  </a:txBody>
                  <a:tcPr marL="60000" marR="60000" marT="30000" marB="30000" anchor="ctr">
                    <a:solidFill>
                      <a:srgbClr val="FFFFFF"/>
                    </a:solidFill>
                  </a:tcPr>
                </a:tc>
                <a:tc>
                  <a:txBody>
                    <a:bodyPr/>
                    <a:lstStyle/>
                    <a:p>
                      <a:r>
                        <a:rPr sz="1300" b="0">
                          <a:solidFill>
                            <a:srgbClr val="000000"/>
                          </a:solidFill>
                          <a:latin typeface="Calibri"/>
                        </a:rPr>
                        <a:t>HashMap + HashSet + Jaccard + Priority Queue</a:t>
                      </a:r>
                    </a:p>
                  </a:txBody>
                  <a:tcPr marL="60000" marR="60000" marT="30000" marB="30000" anchor="ctr">
                    <a:solidFill>
                      <a:srgbClr val="FFFFFF"/>
                    </a:solidFill>
                  </a:tcPr>
                </a:tc>
                <a:tc>
                  <a:txBody>
                    <a:bodyPr/>
                    <a:lstStyle/>
                    <a:p>
                      <a:r>
                        <a:rPr sz="1300" b="0">
                          <a:solidFill>
                            <a:srgbClr val="000000"/>
                          </a:solidFill>
                          <a:latin typeface="Calibri"/>
                        </a:rPr>
                        <a:t>Efficient candidate retrieval and ranking</a:t>
                      </a:r>
                    </a:p>
                  </a:txBody>
                  <a:tcPr marL="60000" marR="60000" marT="30000" marB="30000" anchor="ctr">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736109" y="4450000"/>
            <a:ext cx="7900000" cy="1350000"/>
          </a:xfrm>
          <a:prstGeom prst="roundRect">
            <a:avLst/>
          </a:prstGeom>
          <a:solidFill>
            <a:srgbClr val="FBF0F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80000" tIns="100000" rIns="180000" rtlCol="0" anchor="ctr"/>
          <a:lstStyle/>
          <a:p>
            <a:pPr algn="ctr"/>
            <a:r>
              <a:rPr sz="1400" b="1">
                <a:solidFill>
                  <a:srgbClr val="C00000"/>
                </a:solidFill>
                <a:latin typeface="Calibri"/>
              </a:rPr>
              <a:t>Research Gap</a:t>
            </a:r>
          </a:p>
          <a:p>
            <a:r>
              <a:rPr sz="1400">
                <a:solidFill>
                  <a:srgbClr val="000000"/>
                </a:solidFill>
                <a:latin typeface="Calibri"/>
              </a:rPr>
              <a:t>A practical DSA-based approach is needed to efficiently retrieve and rank near-duplicate questions.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ounded Rectangle 3"/>
          <p:cNvSpPr/>
          <p:nvPr/>
        </p:nvSpPr>
        <p:spPr>
          <a:xfrm>
            <a:off x="3736109" y="988734"/>
            <a:ext cx="7900000" cy="1500000"/>
          </a:xfrm>
          <a:prstGeom prst="roundRect">
            <a:avLst/>
          </a:prstGeom>
          <a:solidFill>
            <a:srgbClr val="FBF0F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200000" tIns="120000" rIns="200000" rtlCol="0" anchor="ctr"/>
          <a:lstStyle/>
          <a:p>
            <a:pPr algn="ctr"/>
            <a:r>
              <a:rPr sz="1400" b="1">
                <a:solidFill>
                  <a:srgbClr val="C00000"/>
                </a:solidFill>
                <a:latin typeface="Calibri"/>
              </a:rPr>
              <a:t>Problem Statement</a:t>
            </a:r>
          </a:p>
          <a:p>
            <a:pPr>
              <a:lnSpc>
                <a:spcPct val="115000"/>
              </a:lnSpc>
            </a:pPr>
            <a:r>
              <a:rPr sz="1500" i="1">
                <a:solidFill>
                  <a:srgbClr val="000000"/>
                </a:solidFill>
                <a:latin typeface="Calibri"/>
              </a:rPr>
              <a:t>“To develop an efficient system that identifies and ranks questions similar to a newly submitted question, reducing duplicate content and improving information retrieval in Q&amp;A platforms.”</a:t>
            </a:r>
          </a:p>
        </p:txBody>
      </p:sp>
      <p:sp>
        <p:nvSpPr>
          <p:cNvPr id="5" name="TextBox 4"/>
          <p:cNvSpPr txBox="1"/>
          <p:nvPr/>
        </p:nvSpPr>
        <p:spPr>
          <a:xfrm>
            <a:off x="3736109" y="2600000"/>
            <a:ext cx="7900000" cy="400000"/>
          </a:xfrm>
          <a:prstGeom prst="rect">
            <a:avLst/>
          </a:prstGeom>
          <a:noFill/>
        </p:spPr>
        <p:txBody>
          <a:bodyPr wrap="square" anchor="t">
            <a:spAutoFit/>
          </a:bodyPr>
          <a:lstStyle/>
          <a:p>
            <a:pPr algn="l">
              <a:lnSpc>
                <a:spcPct val="110000"/>
              </a:lnSpc>
            </a:pPr>
            <a:r>
              <a:rPr sz="1600" b="1" i="0">
                <a:solidFill>
                  <a:srgbClr val="C00000"/>
                </a:solidFill>
                <a:latin typeface="Calibri"/>
              </a:rPr>
              <a:t>Objectives</a:t>
            </a:r>
          </a:p>
        </p:txBody>
      </p:sp>
      <p:sp>
        <p:nvSpPr>
          <p:cNvPr id="6" name="TextBox 5"/>
          <p:cNvSpPr txBox="1"/>
          <p:nvPr/>
        </p:nvSpPr>
        <p:spPr>
          <a:xfrm>
            <a:off x="3736109" y="3050000"/>
            <a:ext cx="7900000" cy="3200000"/>
          </a:xfrm>
          <a:prstGeom prst="rect">
            <a:avLst/>
          </a:prstGeom>
          <a:noFill/>
        </p:spPr>
        <p:txBody>
          <a:bodyPr wrap="square">
            <a:spAutoFit/>
          </a:bodyPr>
          <a:lstStyle/>
          <a:p>
            <a:pPr marL="228600" indent="-228600" algn="l">
              <a:lnSpc>
                <a:spcPct val="115000"/>
              </a:lnSpc>
              <a:spcAft>
                <a:spcPts val="1000"/>
              </a:spcAft>
              <a:buFont typeface="Arial"/>
              <a:buChar char="•"/>
            </a:pPr>
            <a:r>
              <a:rPr sz="1700">
                <a:solidFill>
                  <a:srgbClr val="000000"/>
                </a:solidFill>
                <a:latin typeface="Calibri"/>
              </a:rPr>
              <a:t>Preprocess incoming questions.</a:t>
            </a:r>
          </a:p>
          <a:p>
            <a:pPr marL="228600" indent="-228600" algn="l">
              <a:lnSpc>
                <a:spcPct val="115000"/>
              </a:lnSpc>
              <a:spcAft>
                <a:spcPts val="1000"/>
              </a:spcAft>
              <a:buFont typeface="Arial"/>
              <a:buChar char="•"/>
            </a:pPr>
            <a:r>
              <a:rPr sz="1700">
                <a:solidFill>
                  <a:srgbClr val="000000"/>
                </a:solidFill>
                <a:latin typeface="Calibri"/>
              </a:rPr>
              <a:t>Generate tokens and shingles.</a:t>
            </a:r>
          </a:p>
          <a:p>
            <a:pPr marL="228600" indent="-228600" algn="l">
              <a:lnSpc>
                <a:spcPct val="115000"/>
              </a:lnSpc>
              <a:spcAft>
                <a:spcPts val="1000"/>
              </a:spcAft>
              <a:buFont typeface="Arial"/>
              <a:buChar char="•"/>
            </a:pPr>
            <a:r>
              <a:rPr sz="1700">
                <a:solidFill>
                  <a:srgbClr val="000000"/>
                </a:solidFill>
                <a:latin typeface="Calibri"/>
              </a:rPr>
              <a:t>Efficiently retrieve candidate questions.</a:t>
            </a:r>
          </a:p>
          <a:p>
            <a:pPr marL="228600" indent="-228600" algn="l">
              <a:lnSpc>
                <a:spcPct val="115000"/>
              </a:lnSpc>
              <a:spcAft>
                <a:spcPts val="1000"/>
              </a:spcAft>
              <a:buFont typeface="Arial"/>
              <a:buChar char="•"/>
            </a:pPr>
            <a:r>
              <a:rPr sz="1700">
                <a:solidFill>
                  <a:srgbClr val="000000"/>
                </a:solidFill>
                <a:latin typeface="Calibri"/>
              </a:rPr>
              <a:t>Calculate similarity.</a:t>
            </a:r>
          </a:p>
          <a:p>
            <a:pPr marL="228600" indent="-228600" algn="l">
              <a:lnSpc>
                <a:spcPct val="115000"/>
              </a:lnSpc>
              <a:spcAft>
                <a:spcPts val="1000"/>
              </a:spcAft>
              <a:buFont typeface="Arial"/>
              <a:buChar char="•"/>
            </a:pPr>
            <a:r>
              <a:rPr sz="1700">
                <a:solidFill>
                  <a:srgbClr val="000000"/>
                </a:solidFill>
                <a:latin typeface="Calibri"/>
              </a:rPr>
              <a:t>Rank similar questions.</a:t>
            </a:r>
          </a:p>
          <a:p>
            <a:pPr marL="228600" indent="-228600" algn="l">
              <a:lnSpc>
                <a:spcPct val="115000"/>
              </a:lnSpc>
              <a:spcAft>
                <a:spcPts val="1000"/>
              </a:spcAft>
              <a:buFont typeface="Arial"/>
              <a:buChar char="•"/>
            </a:pPr>
            <a:r>
              <a:rPr sz="1700">
                <a:solidFill>
                  <a:srgbClr val="000000"/>
                </a:solidFill>
                <a:latin typeface="Calibri"/>
              </a:rPr>
              <a:t>Suggest possible duplicates.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660800" y="221673"/>
            <a:ext cx="487040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960800" y="221673"/>
            <a:ext cx="6270400" cy="584775"/>
          </a:xfrm>
          <a:prstGeom prst="rect">
            <a:avLst/>
          </a:prstGeom>
          <a:noFill/>
        </p:spPr>
        <p:txBody>
          <a:bodyPr wrap="square" rtlCol="0">
            <a:spAutoFit/>
          </a:bodyPr>
          <a:lstStyle/>
          <a:p>
            <a:pPr algn="ctr"/>
            <a:r>
              <a:rPr lang="en-US" sz="3200" b="1" dirty="0">
                <a:solidFill>
                  <a:schemeClr val="bg1"/>
                </a:solidFill>
              </a:rPr>
              <a:t>Proposed Methodology</a:t>
            </a:r>
          </a:p>
        </p:txBody>
      </p:sp>
      <p:sp>
        <p:nvSpPr>
          <p:cNvPr id="4" name="Rounded Rectangle 3"/>
          <p:cNvSpPr/>
          <p:nvPr/>
        </p:nvSpPr>
        <p:spPr>
          <a:xfrm>
            <a:off x="3796000" y="900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New Question</a:t>
            </a:r>
          </a:p>
        </p:txBody>
      </p:sp>
      <p:sp>
        <p:nvSpPr>
          <p:cNvPr id="5" name="Down Arrow 4"/>
          <p:cNvSpPr/>
          <p:nvPr/>
        </p:nvSpPr>
        <p:spPr>
          <a:xfrm>
            <a:off x="5986000" y="1230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796000" y="1392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Text Preprocessing</a:t>
            </a:r>
          </a:p>
        </p:txBody>
      </p:sp>
      <p:sp>
        <p:nvSpPr>
          <p:cNvPr id="7" name="Down Arrow 6"/>
          <p:cNvSpPr/>
          <p:nvPr/>
        </p:nvSpPr>
        <p:spPr>
          <a:xfrm>
            <a:off x="5986000" y="1722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796000" y="1884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Tokenization</a:t>
            </a:r>
          </a:p>
        </p:txBody>
      </p:sp>
      <p:sp>
        <p:nvSpPr>
          <p:cNvPr id="9" name="Down Arrow 8"/>
          <p:cNvSpPr/>
          <p:nvPr/>
        </p:nvSpPr>
        <p:spPr>
          <a:xfrm>
            <a:off x="5986000" y="2214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796000" y="2376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Stop-word Removal</a:t>
            </a:r>
          </a:p>
        </p:txBody>
      </p:sp>
      <p:sp>
        <p:nvSpPr>
          <p:cNvPr id="11" name="Down Arrow 10"/>
          <p:cNvSpPr/>
          <p:nvPr/>
        </p:nvSpPr>
        <p:spPr>
          <a:xfrm>
            <a:off x="5986000" y="2706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96000" y="2868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Shingling</a:t>
            </a:r>
          </a:p>
        </p:txBody>
      </p:sp>
      <p:sp>
        <p:nvSpPr>
          <p:cNvPr id="13" name="Down Arrow 12"/>
          <p:cNvSpPr/>
          <p:nvPr/>
        </p:nvSpPr>
        <p:spPr>
          <a:xfrm>
            <a:off x="5986000" y="3198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96000" y="3360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HashMap / HashSet</a:t>
            </a:r>
          </a:p>
        </p:txBody>
      </p:sp>
      <p:sp>
        <p:nvSpPr>
          <p:cNvPr id="15" name="Down Arrow 14"/>
          <p:cNvSpPr/>
          <p:nvPr/>
        </p:nvSpPr>
        <p:spPr>
          <a:xfrm>
            <a:off x="5986000" y="3690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796000" y="3852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Candidate Retrieval</a:t>
            </a:r>
          </a:p>
        </p:txBody>
      </p:sp>
      <p:sp>
        <p:nvSpPr>
          <p:cNvPr id="17" name="Down Arrow 16"/>
          <p:cNvSpPr/>
          <p:nvPr/>
        </p:nvSpPr>
        <p:spPr>
          <a:xfrm>
            <a:off x="5986000" y="4182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796000" y="4344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Jaccard Similarity</a:t>
            </a:r>
          </a:p>
        </p:txBody>
      </p:sp>
      <p:sp>
        <p:nvSpPr>
          <p:cNvPr id="19" name="Down Arrow 18"/>
          <p:cNvSpPr/>
          <p:nvPr/>
        </p:nvSpPr>
        <p:spPr>
          <a:xfrm>
            <a:off x="5986000" y="4674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796000" y="4836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Priority Queue</a:t>
            </a:r>
          </a:p>
        </p:txBody>
      </p:sp>
      <p:sp>
        <p:nvSpPr>
          <p:cNvPr id="21" name="Down Arrow 20"/>
          <p:cNvSpPr/>
          <p:nvPr/>
        </p:nvSpPr>
        <p:spPr>
          <a:xfrm>
            <a:off x="5986000" y="5166500"/>
            <a:ext cx="220000" cy="153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796000" y="5328000"/>
            <a:ext cx="4600000" cy="322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Top Similar Questions</a:t>
            </a:r>
          </a:p>
        </p:txBody>
      </p:sp>
      <p:sp>
        <p:nvSpPr>
          <p:cNvPr id="23" name="Rounded Rectangle 22"/>
          <p:cNvSpPr/>
          <p:nvPr/>
        </p:nvSpPr>
        <p:spPr>
          <a:xfrm>
            <a:off x="3736109" y="5770000"/>
            <a:ext cx="7900000" cy="700000"/>
          </a:xfrm>
          <a:prstGeom prst="roundRect">
            <a:avLst/>
          </a:prstGeom>
          <a:solidFill>
            <a:srgbClr val="FBF0F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80000" rIns="180000" rtlCol="0" anchor="ctr"/>
          <a:lstStyle/>
          <a:p>
            <a:pPr algn="ctr"/>
            <a:r>
              <a:rPr sz="1400" b="1">
                <a:solidFill>
                  <a:srgbClr val="C00000"/>
                </a:solidFill>
                <a:latin typeface="Calibri"/>
              </a:rPr>
              <a:t>Goal: </a:t>
            </a:r>
            <a:r>
              <a:rPr sz="1400">
                <a:solidFill>
                  <a:srgbClr val="000000"/>
                </a:solidFill>
                <a:latin typeface="Calibri"/>
              </a:rPr>
              <a:t>Find the most relevant existing questions without unnecessarily comparing against every question.</a:t>
            </a:r>
          </a:p>
        </p:txBody>
      </p:sp>
    </p:spTree>
    <p:extLst>
      <p:ext uri="{BB962C8B-B14F-4D97-AF65-F5344CB8AC3E}">
        <p14:creationId xmlns:p14="http://schemas.microsoft.com/office/powerpoint/2010/main" val="1672422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4496000" y="221673"/>
            <a:ext cx="320000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796000" y="193965"/>
            <a:ext cx="4600000"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Oval 3"/>
          <p:cNvSpPr/>
          <p:nvPr/>
        </p:nvSpPr>
        <p:spPr>
          <a:xfrm>
            <a:off x="3736109" y="900000"/>
            <a:ext cx="3750000" cy="70000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START</a:t>
            </a:r>
          </a:p>
        </p:txBody>
      </p:sp>
      <p:sp>
        <p:nvSpPr>
          <p:cNvPr id="5" name="Down Arrow 4"/>
          <p:cNvSpPr/>
          <p:nvPr/>
        </p:nvSpPr>
        <p:spPr>
          <a:xfrm>
            <a:off x="5511109" y="160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736109" y="173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Enter New Question</a:t>
            </a:r>
          </a:p>
        </p:txBody>
      </p:sp>
      <p:sp>
        <p:nvSpPr>
          <p:cNvPr id="7" name="Down Arrow 6"/>
          <p:cNvSpPr/>
          <p:nvPr/>
        </p:nvSpPr>
        <p:spPr>
          <a:xfrm>
            <a:off x="5511109" y="243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736109" y="256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Normalize Text</a:t>
            </a:r>
          </a:p>
        </p:txBody>
      </p:sp>
      <p:sp>
        <p:nvSpPr>
          <p:cNvPr id="9" name="Down Arrow 8"/>
          <p:cNvSpPr/>
          <p:nvPr/>
        </p:nvSpPr>
        <p:spPr>
          <a:xfrm>
            <a:off x="5511109" y="326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736109" y="339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Tokenize</a:t>
            </a:r>
          </a:p>
        </p:txBody>
      </p:sp>
      <p:sp>
        <p:nvSpPr>
          <p:cNvPr id="11" name="Down Arrow 10"/>
          <p:cNvSpPr/>
          <p:nvPr/>
        </p:nvSpPr>
        <p:spPr>
          <a:xfrm>
            <a:off x="5511109" y="409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36109" y="422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Remove Stop Words</a:t>
            </a:r>
          </a:p>
        </p:txBody>
      </p:sp>
      <p:sp>
        <p:nvSpPr>
          <p:cNvPr id="13" name="Down Arrow 12"/>
          <p:cNvSpPr/>
          <p:nvPr/>
        </p:nvSpPr>
        <p:spPr>
          <a:xfrm>
            <a:off x="5511109" y="492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736109" y="505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Generate Shingles</a:t>
            </a:r>
          </a:p>
        </p:txBody>
      </p:sp>
      <p:sp>
        <p:nvSpPr>
          <p:cNvPr id="15" name="Down Arrow 14"/>
          <p:cNvSpPr/>
          <p:nvPr/>
        </p:nvSpPr>
        <p:spPr>
          <a:xfrm>
            <a:off x="5511109" y="575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736109" y="588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Retrieve Candidates</a:t>
            </a:r>
          </a:p>
        </p:txBody>
      </p:sp>
      <p:sp>
        <p:nvSpPr>
          <p:cNvPr id="17" name="Rounded Rectangle 16"/>
          <p:cNvSpPr/>
          <p:nvPr/>
        </p:nvSpPr>
        <p:spPr>
          <a:xfrm>
            <a:off x="7786109" y="90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Calculate Jaccard Similarity</a:t>
            </a:r>
          </a:p>
        </p:txBody>
      </p:sp>
      <p:sp>
        <p:nvSpPr>
          <p:cNvPr id="18" name="Down Arrow 17"/>
          <p:cNvSpPr/>
          <p:nvPr/>
        </p:nvSpPr>
        <p:spPr>
          <a:xfrm>
            <a:off x="9561109" y="160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786109" y="173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Rank Using Priority Queue</a:t>
            </a:r>
          </a:p>
        </p:txBody>
      </p:sp>
      <p:sp>
        <p:nvSpPr>
          <p:cNvPr id="20" name="Down Arrow 19"/>
          <p:cNvSpPr/>
          <p:nvPr/>
        </p:nvSpPr>
        <p:spPr>
          <a:xfrm>
            <a:off x="9561109" y="243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86109" y="2560000"/>
            <a:ext cx="3750000" cy="70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300" b="1">
                <a:solidFill>
                  <a:srgbClr val="FFFFFF"/>
                </a:solidFill>
                <a:latin typeface="Calibri"/>
              </a:rPr>
              <a:t>Display Top-K Results</a:t>
            </a:r>
          </a:p>
        </p:txBody>
      </p:sp>
      <p:sp>
        <p:nvSpPr>
          <p:cNvPr id="22" name="Down Arrow 21"/>
          <p:cNvSpPr/>
          <p:nvPr/>
        </p:nvSpPr>
        <p:spPr>
          <a:xfrm>
            <a:off x="9561109" y="3266500"/>
            <a:ext cx="200000" cy="117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iamond 22"/>
          <p:cNvSpPr/>
          <p:nvPr/>
        </p:nvSpPr>
        <p:spPr>
          <a:xfrm>
            <a:off x="7786109" y="3390000"/>
            <a:ext cx="3750000" cy="800000"/>
          </a:xfrm>
          <a:prstGeom prst="diamond">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200" b="1">
                <a:solidFill>
                  <a:srgbClr val="FFFFFF"/>
                </a:solidFill>
                <a:latin typeface="Calibri"/>
              </a:rPr>
              <a:t>Possible Duplicate?</a:t>
            </a:r>
          </a:p>
        </p:txBody>
      </p:sp>
      <p:sp>
        <p:nvSpPr>
          <p:cNvPr id="24" name="Rounded Rectangle 23"/>
          <p:cNvSpPr/>
          <p:nvPr/>
        </p:nvSpPr>
        <p:spPr>
          <a:xfrm>
            <a:off x="7786109" y="4250000"/>
            <a:ext cx="1750000" cy="75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100" b="1">
                <a:solidFill>
                  <a:srgbClr val="FFFFFF"/>
                </a:solidFill>
                <a:latin typeface="Calibri"/>
              </a:rPr>
              <a:t>YES → Suggest Existing Question</a:t>
            </a:r>
          </a:p>
        </p:txBody>
      </p:sp>
      <p:sp>
        <p:nvSpPr>
          <p:cNvPr id="25" name="Rounded Rectangle 24"/>
          <p:cNvSpPr/>
          <p:nvPr/>
        </p:nvSpPr>
        <p:spPr>
          <a:xfrm>
            <a:off x="9786109" y="4250000"/>
            <a:ext cx="1750000" cy="750000"/>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100" b="1">
                <a:solidFill>
                  <a:srgbClr val="FFFFFF"/>
                </a:solidFill>
                <a:latin typeface="Calibri"/>
              </a:rPr>
              <a:t>NO → Allow New Question</a:t>
            </a:r>
          </a:p>
        </p:txBody>
      </p:sp>
      <p:sp>
        <p:nvSpPr>
          <p:cNvPr id="26" name="Down Arrow 25"/>
          <p:cNvSpPr/>
          <p:nvPr/>
        </p:nvSpPr>
        <p:spPr>
          <a:xfrm>
            <a:off x="9561109" y="5010000"/>
            <a:ext cx="200000" cy="15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786109" y="5150000"/>
            <a:ext cx="3750000" cy="620000"/>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400" b="1">
                <a:solidFill>
                  <a:srgbClr val="FFFFFF"/>
                </a:solidFill>
                <a:latin typeface="Calibri"/>
              </a:rPr>
              <a:t>END</a:t>
            </a:r>
          </a:p>
        </p:txBody>
      </p:sp>
      <p:sp>
        <p:nvSpPr>
          <p:cNvPr id="28" name="TextBox 27"/>
          <p:cNvSpPr txBox="1"/>
          <p:nvPr/>
        </p:nvSpPr>
        <p:spPr>
          <a:xfrm>
            <a:off x="3736109" y="6600000"/>
            <a:ext cx="3750000" cy="300000"/>
          </a:xfrm>
          <a:prstGeom prst="rect">
            <a:avLst/>
          </a:prstGeom>
          <a:noFill/>
        </p:spPr>
        <p:txBody>
          <a:bodyPr wrap="square" anchor="t">
            <a:spAutoFit/>
          </a:bodyPr>
          <a:lstStyle/>
          <a:p>
            <a:pPr algn="ctr">
              <a:lnSpc>
                <a:spcPct val="110000"/>
              </a:lnSpc>
            </a:pPr>
            <a:r>
              <a:rPr sz="1200" b="0" i="1">
                <a:solidFill>
                  <a:srgbClr val="555555"/>
                </a:solidFill>
                <a:latin typeface="Calibri"/>
              </a:rPr>
              <a:t>continues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996080" y="221673"/>
            <a:ext cx="419984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296080" y="221673"/>
            <a:ext cx="5599840" cy="584775"/>
          </a:xfrm>
          <a:prstGeom prst="rect">
            <a:avLst/>
          </a:prstGeom>
          <a:noFill/>
        </p:spPr>
        <p:txBody>
          <a:bodyPr wrap="square" rtlCol="0">
            <a:spAutoFit/>
          </a:bodyPr>
          <a:lstStyle/>
          <a:p>
            <a:pPr algn="ctr"/>
            <a:r>
              <a:rPr lang="en-US" sz="3200" b="1" dirty="0">
                <a:solidFill>
                  <a:schemeClr val="bg1"/>
                </a:solidFill>
              </a:rPr>
              <a:t>DSA Concepts Used</a:t>
            </a:r>
          </a:p>
        </p:txBody>
      </p:sp>
      <p:graphicFrame>
        <p:nvGraphicFramePr>
          <p:cNvPr id="4" name="Table 3"/>
          <p:cNvGraphicFramePr>
            <a:graphicFrameLocks noGrp="1"/>
          </p:cNvGraphicFramePr>
          <p:nvPr/>
        </p:nvGraphicFramePr>
        <p:xfrm>
          <a:off x="3736109" y="900000"/>
          <a:ext cx="7900000" cy="3900000"/>
        </p:xfrm>
        <a:graphic>
          <a:graphicData uri="http://schemas.openxmlformats.org/drawingml/2006/table">
            <a:tbl>
              <a:tblPr firstRow="1" bandRow="1">
                <a:tableStyleId>{5C22544A-7EE6-4342-B048-85BDC9FD1C3A}</a:tableStyleId>
              </a:tblPr>
              <a:tblGrid>
                <a:gridCol w="3000000">
                  <a:extLst>
                    <a:ext uri="{9D8B030D-6E8A-4147-A177-3AD203B41FA5}">
                      <a16:colId xmlns:a16="http://schemas.microsoft.com/office/drawing/2014/main" val="20000"/>
                    </a:ext>
                  </a:extLst>
                </a:gridCol>
                <a:gridCol w="4900000">
                  <a:extLst>
                    <a:ext uri="{9D8B030D-6E8A-4147-A177-3AD203B41FA5}">
                      <a16:colId xmlns:a16="http://schemas.microsoft.com/office/drawing/2014/main" val="20001"/>
                    </a:ext>
                  </a:extLst>
                </a:gridCol>
              </a:tblGrid>
              <a:tr h="487500">
                <a:tc>
                  <a:txBody>
                    <a:bodyPr/>
                    <a:lstStyle/>
                    <a:p>
                      <a:r>
                        <a:rPr sz="1500" b="1">
                          <a:solidFill>
                            <a:srgbClr val="FFFFFF"/>
                          </a:solidFill>
                          <a:latin typeface="Calibri"/>
                        </a:rPr>
                        <a:t>Data Structure / Algorithm</a:t>
                      </a:r>
                    </a:p>
                  </a:txBody>
                  <a:tcPr marL="60000" marR="60000" marT="30000" marB="30000" anchor="ctr">
                    <a:solidFill>
                      <a:srgbClr val="C00000"/>
                    </a:solidFill>
                  </a:tcPr>
                </a:tc>
                <a:tc>
                  <a:txBody>
                    <a:bodyPr/>
                    <a:lstStyle/>
                    <a:p>
                      <a:r>
                        <a:rPr sz="1500" b="1">
                          <a:solidFill>
                            <a:srgbClr val="FFFFFF"/>
                          </a:solidFill>
                          <a:latin typeface="Calibri"/>
                        </a:rPr>
                        <a:t>Purpose</a:t>
                      </a:r>
                    </a:p>
                  </a:txBody>
                  <a:tcPr marL="60000" marR="60000" marT="30000" marB="30000" anchor="ctr">
                    <a:solidFill>
                      <a:srgbClr val="C00000"/>
                    </a:solidFill>
                  </a:tcPr>
                </a:tc>
                <a:extLst>
                  <a:ext uri="{0D108BD9-81ED-4DB2-BD59-A6C34878D82A}">
                    <a16:rowId xmlns:a16="http://schemas.microsoft.com/office/drawing/2014/main" val="10000"/>
                  </a:ext>
                </a:extLst>
              </a:tr>
              <a:tr h="487500">
                <a:tc>
                  <a:txBody>
                    <a:bodyPr/>
                    <a:lstStyle/>
                    <a:p>
                      <a:r>
                        <a:rPr sz="1400" b="0">
                          <a:solidFill>
                            <a:srgbClr val="000000"/>
                          </a:solidFill>
                          <a:latin typeface="Calibri"/>
                        </a:rPr>
                        <a:t>HashMap</a:t>
                      </a:r>
                    </a:p>
                  </a:txBody>
                  <a:tcPr marL="60000" marR="60000" marT="30000" marB="30000" anchor="ctr">
                    <a:solidFill>
                      <a:srgbClr val="FFFFFF"/>
                    </a:solidFill>
                  </a:tcPr>
                </a:tc>
                <a:tc>
                  <a:txBody>
                    <a:bodyPr/>
                    <a:lstStyle/>
                    <a:p>
                      <a:r>
                        <a:rPr sz="1400" b="0">
                          <a:solidFill>
                            <a:srgbClr val="000000"/>
                          </a:solidFill>
                          <a:latin typeface="Calibri"/>
                        </a:rPr>
                        <a:t>Fast indexing and lookup</a:t>
                      </a:r>
                    </a:p>
                  </a:txBody>
                  <a:tcPr marL="60000" marR="60000" marT="30000" marB="30000" anchor="ctr">
                    <a:solidFill>
                      <a:srgbClr val="FFFFFF"/>
                    </a:solidFill>
                  </a:tcPr>
                </a:tc>
                <a:extLst>
                  <a:ext uri="{0D108BD9-81ED-4DB2-BD59-A6C34878D82A}">
                    <a16:rowId xmlns:a16="http://schemas.microsoft.com/office/drawing/2014/main" val="10001"/>
                  </a:ext>
                </a:extLst>
              </a:tr>
              <a:tr h="487500">
                <a:tc>
                  <a:txBody>
                    <a:bodyPr/>
                    <a:lstStyle/>
                    <a:p>
                      <a:r>
                        <a:rPr sz="1400" b="0">
                          <a:solidFill>
                            <a:srgbClr val="000000"/>
                          </a:solidFill>
                          <a:latin typeface="Calibri"/>
                        </a:rPr>
                        <a:t>HashSet</a:t>
                      </a:r>
                    </a:p>
                  </a:txBody>
                  <a:tcPr marL="60000" marR="60000" marT="30000" marB="30000" anchor="ctr">
                    <a:solidFill>
                      <a:srgbClr val="F5F0F0"/>
                    </a:solidFill>
                  </a:tcPr>
                </a:tc>
                <a:tc>
                  <a:txBody>
                    <a:bodyPr/>
                    <a:lstStyle/>
                    <a:p>
                      <a:r>
                        <a:rPr sz="1400" b="0">
                          <a:solidFill>
                            <a:srgbClr val="000000"/>
                          </a:solidFill>
                          <a:latin typeface="Calibri"/>
                        </a:rPr>
                        <a:t>Store unique tokens / shingles</a:t>
                      </a:r>
                    </a:p>
                  </a:txBody>
                  <a:tcPr marL="60000" marR="60000" marT="30000" marB="30000" anchor="ctr">
                    <a:solidFill>
                      <a:srgbClr val="F5F0F0"/>
                    </a:solidFill>
                  </a:tcPr>
                </a:tc>
                <a:extLst>
                  <a:ext uri="{0D108BD9-81ED-4DB2-BD59-A6C34878D82A}">
                    <a16:rowId xmlns:a16="http://schemas.microsoft.com/office/drawing/2014/main" val="10002"/>
                  </a:ext>
                </a:extLst>
              </a:tr>
              <a:tr h="487500">
                <a:tc>
                  <a:txBody>
                    <a:bodyPr/>
                    <a:lstStyle/>
                    <a:p>
                      <a:r>
                        <a:rPr sz="1400" b="0">
                          <a:solidFill>
                            <a:srgbClr val="000000"/>
                          </a:solidFill>
                          <a:latin typeface="Calibri"/>
                        </a:rPr>
                        <a:t>ArrayList</a:t>
                      </a:r>
                    </a:p>
                  </a:txBody>
                  <a:tcPr marL="60000" marR="60000" marT="30000" marB="30000" anchor="ctr">
                    <a:solidFill>
                      <a:srgbClr val="FFFFFF"/>
                    </a:solidFill>
                  </a:tcPr>
                </a:tc>
                <a:tc>
                  <a:txBody>
                    <a:bodyPr/>
                    <a:lstStyle/>
                    <a:p>
                      <a:r>
                        <a:rPr sz="1400" b="0">
                          <a:solidFill>
                            <a:srgbClr val="000000"/>
                          </a:solidFill>
                          <a:latin typeface="Calibri"/>
                        </a:rPr>
                        <a:t>Store questions / results</a:t>
                      </a:r>
                    </a:p>
                  </a:txBody>
                  <a:tcPr marL="60000" marR="60000" marT="30000" marB="30000" anchor="ctr">
                    <a:solidFill>
                      <a:srgbClr val="FFFFFF"/>
                    </a:solidFill>
                  </a:tcPr>
                </a:tc>
                <a:extLst>
                  <a:ext uri="{0D108BD9-81ED-4DB2-BD59-A6C34878D82A}">
                    <a16:rowId xmlns:a16="http://schemas.microsoft.com/office/drawing/2014/main" val="10003"/>
                  </a:ext>
                </a:extLst>
              </a:tr>
              <a:tr h="487500">
                <a:tc>
                  <a:txBody>
                    <a:bodyPr/>
                    <a:lstStyle/>
                    <a:p>
                      <a:r>
                        <a:rPr sz="1400" b="0">
                          <a:solidFill>
                            <a:srgbClr val="000000"/>
                          </a:solidFill>
                          <a:latin typeface="Calibri"/>
                        </a:rPr>
                        <a:t>Shingling</a:t>
                      </a:r>
                    </a:p>
                  </a:txBody>
                  <a:tcPr marL="60000" marR="60000" marT="30000" marB="30000" anchor="ctr">
                    <a:solidFill>
                      <a:srgbClr val="F5F0F0"/>
                    </a:solidFill>
                  </a:tcPr>
                </a:tc>
                <a:tc>
                  <a:txBody>
                    <a:bodyPr/>
                    <a:lstStyle/>
                    <a:p>
                      <a:r>
                        <a:rPr sz="1400" b="0">
                          <a:solidFill>
                            <a:srgbClr val="000000"/>
                          </a:solidFill>
                          <a:latin typeface="Calibri"/>
                        </a:rPr>
                        <a:t>Represent overlapping word groups</a:t>
                      </a:r>
                    </a:p>
                  </a:txBody>
                  <a:tcPr marL="60000" marR="60000" marT="30000" marB="30000" anchor="ctr">
                    <a:solidFill>
                      <a:srgbClr val="F5F0F0"/>
                    </a:solidFill>
                  </a:tcPr>
                </a:tc>
                <a:extLst>
                  <a:ext uri="{0D108BD9-81ED-4DB2-BD59-A6C34878D82A}">
                    <a16:rowId xmlns:a16="http://schemas.microsoft.com/office/drawing/2014/main" val="10004"/>
                  </a:ext>
                </a:extLst>
              </a:tr>
              <a:tr h="487500">
                <a:tc>
                  <a:txBody>
                    <a:bodyPr/>
                    <a:lstStyle/>
                    <a:p>
                      <a:r>
                        <a:rPr sz="1400" b="0">
                          <a:solidFill>
                            <a:srgbClr val="000000"/>
                          </a:solidFill>
                          <a:latin typeface="Calibri"/>
                        </a:rPr>
                        <a:t>Jaccard Similarity</a:t>
                      </a:r>
                    </a:p>
                  </a:txBody>
                  <a:tcPr marL="60000" marR="60000" marT="30000" marB="30000" anchor="ctr">
                    <a:solidFill>
                      <a:srgbClr val="FFFFFF"/>
                    </a:solidFill>
                  </a:tcPr>
                </a:tc>
                <a:tc>
                  <a:txBody>
                    <a:bodyPr/>
                    <a:lstStyle/>
                    <a:p>
                      <a:r>
                        <a:rPr sz="1400" b="0">
                          <a:solidFill>
                            <a:srgbClr val="000000"/>
                          </a:solidFill>
                          <a:latin typeface="Calibri"/>
                        </a:rPr>
                        <a:t>Measure similarity</a:t>
                      </a:r>
                    </a:p>
                  </a:txBody>
                  <a:tcPr marL="60000" marR="60000" marT="30000" marB="30000" anchor="ctr">
                    <a:solidFill>
                      <a:srgbClr val="FFFFFF"/>
                    </a:solidFill>
                  </a:tcPr>
                </a:tc>
                <a:extLst>
                  <a:ext uri="{0D108BD9-81ED-4DB2-BD59-A6C34878D82A}">
                    <a16:rowId xmlns:a16="http://schemas.microsoft.com/office/drawing/2014/main" val="10005"/>
                  </a:ext>
                </a:extLst>
              </a:tr>
              <a:tr h="487500">
                <a:tc>
                  <a:txBody>
                    <a:bodyPr/>
                    <a:lstStyle/>
                    <a:p>
                      <a:r>
                        <a:rPr sz="1400" b="0">
                          <a:solidFill>
                            <a:srgbClr val="000000"/>
                          </a:solidFill>
                          <a:latin typeface="Calibri"/>
                        </a:rPr>
                        <a:t>Priority Queue</a:t>
                      </a:r>
                    </a:p>
                  </a:txBody>
                  <a:tcPr marL="60000" marR="60000" marT="30000" marB="30000" anchor="ctr">
                    <a:solidFill>
                      <a:srgbClr val="F5F0F0"/>
                    </a:solidFill>
                  </a:tcPr>
                </a:tc>
                <a:tc>
                  <a:txBody>
                    <a:bodyPr/>
                    <a:lstStyle/>
                    <a:p>
                      <a:r>
                        <a:rPr sz="1400" b="0">
                          <a:solidFill>
                            <a:srgbClr val="000000"/>
                          </a:solidFill>
                          <a:latin typeface="Calibri"/>
                        </a:rPr>
                        <a:t>Rank top similar questions</a:t>
                      </a:r>
                    </a:p>
                  </a:txBody>
                  <a:tcPr marL="60000" marR="60000" marT="30000" marB="30000" anchor="ctr">
                    <a:solidFill>
                      <a:srgbClr val="F5F0F0"/>
                    </a:solidFill>
                  </a:tcPr>
                </a:tc>
                <a:extLst>
                  <a:ext uri="{0D108BD9-81ED-4DB2-BD59-A6C34878D82A}">
                    <a16:rowId xmlns:a16="http://schemas.microsoft.com/office/drawing/2014/main" val="10006"/>
                  </a:ext>
                </a:extLst>
              </a:tr>
              <a:tr h="487500">
                <a:tc>
                  <a:txBody>
                    <a:bodyPr/>
                    <a:lstStyle/>
                    <a:p>
                      <a:r>
                        <a:rPr sz="1400" b="0">
                          <a:solidFill>
                            <a:srgbClr val="000000"/>
                          </a:solidFill>
                          <a:latin typeface="Calibri"/>
                        </a:rPr>
                        <a:t>Hashing</a:t>
                      </a:r>
                    </a:p>
                  </a:txBody>
                  <a:tcPr marL="60000" marR="60000" marT="30000" marB="30000" anchor="ctr">
                    <a:solidFill>
                      <a:srgbClr val="FFFFFF"/>
                    </a:solidFill>
                  </a:tcPr>
                </a:tc>
                <a:tc>
                  <a:txBody>
                    <a:bodyPr/>
                    <a:lstStyle/>
                    <a:p>
                      <a:r>
                        <a:rPr sz="1400" b="0">
                          <a:solidFill>
                            <a:srgbClr val="000000"/>
                          </a:solidFill>
                          <a:latin typeface="Calibri"/>
                        </a:rPr>
                        <a:t>Efficient representation / indexing</a:t>
                      </a:r>
                    </a:p>
                  </a:txBody>
                  <a:tcPr marL="60000" marR="60000" marT="30000" marB="30000" anchor="ct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736109" y="5050000"/>
            <a:ext cx="7900000" cy="750000"/>
          </a:xfrm>
          <a:prstGeom prst="roundRect">
            <a:avLst/>
          </a:prstGeom>
          <a:solidFill>
            <a:srgbClr val="FBF0F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80000" rIns="180000" rtlCol="0" anchor="ctr"/>
          <a:lstStyle/>
          <a:p>
            <a:pPr algn="ctr"/>
            <a:r>
              <a:rPr sz="1500" b="1">
                <a:solidFill>
                  <a:srgbClr val="C00000"/>
                </a:solidFill>
                <a:latin typeface="Calibri"/>
              </a:rPr>
              <a:t>Core DSA: </a:t>
            </a:r>
            <a:r>
              <a:rPr sz="1500">
                <a:solidFill>
                  <a:srgbClr val="000000"/>
                </a:solidFill>
                <a:latin typeface="Calibri"/>
              </a:rPr>
              <a:t>Hashing + Sets + Priority Queue + Similarity + Searching</a:t>
            </a:r>
          </a:p>
        </p:txBody>
      </p:sp>
    </p:spTree>
    <p:extLst>
      <p:ext uri="{BB962C8B-B14F-4D97-AF65-F5344CB8AC3E}">
        <p14:creationId xmlns:p14="http://schemas.microsoft.com/office/powerpoint/2010/main" val="167242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054250" y="221673"/>
            <a:ext cx="808350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354250" y="221673"/>
            <a:ext cx="9483500" cy="584775"/>
          </a:xfrm>
          <a:prstGeom prst="rect">
            <a:avLst/>
          </a:prstGeom>
          <a:noFill/>
        </p:spPr>
        <p:txBody>
          <a:bodyPr wrap="square" rtlCol="0">
            <a:spAutoFit/>
          </a:bodyPr>
          <a:lstStyle/>
          <a:p>
            <a:pPr algn="ctr"/>
            <a:r>
              <a:rPr lang="en-US" sz="2200" b="1" dirty="0">
                <a:solidFill>
                  <a:schemeClr val="bg1"/>
                </a:solidFill>
              </a:rPr>
              <a:t>Text Preprocessing, Shingling &amp; Jaccard Similarity</a:t>
            </a:r>
          </a:p>
        </p:txBody>
      </p:sp>
      <p:sp>
        <p:nvSpPr>
          <p:cNvPr id="4" name="TextBox 3"/>
          <p:cNvSpPr txBox="1"/>
          <p:nvPr/>
        </p:nvSpPr>
        <p:spPr>
          <a:xfrm>
            <a:off x="3736109" y="950000"/>
            <a:ext cx="7900000" cy="350000"/>
          </a:xfrm>
          <a:prstGeom prst="rect">
            <a:avLst/>
          </a:prstGeom>
          <a:noFill/>
        </p:spPr>
        <p:txBody>
          <a:bodyPr wrap="square" anchor="t">
            <a:spAutoFit/>
          </a:bodyPr>
          <a:lstStyle/>
          <a:p>
            <a:pPr algn="l">
              <a:lnSpc>
                <a:spcPct val="110000"/>
              </a:lnSpc>
            </a:pPr>
            <a:r>
              <a:rPr sz="1500" b="1" i="0">
                <a:solidFill>
                  <a:srgbClr val="C00000"/>
                </a:solidFill>
                <a:latin typeface="Calibri"/>
              </a:rPr>
              <a:t>Example</a:t>
            </a:r>
          </a:p>
        </p:txBody>
      </p:sp>
      <p:sp>
        <p:nvSpPr>
          <p:cNvPr id="5" name="TextBox 4"/>
          <p:cNvSpPr txBox="1"/>
          <p:nvPr/>
        </p:nvSpPr>
        <p:spPr>
          <a:xfrm>
            <a:off x="3736109" y="1350000"/>
            <a:ext cx="2100000" cy="300000"/>
          </a:xfrm>
          <a:prstGeom prst="rect">
            <a:avLst/>
          </a:prstGeom>
          <a:noFill/>
        </p:spPr>
        <p:txBody>
          <a:bodyPr wrap="square" anchor="t">
            <a:spAutoFit/>
          </a:bodyPr>
          <a:lstStyle/>
          <a:p>
            <a:pPr algn="l">
              <a:lnSpc>
                <a:spcPct val="110000"/>
              </a:lnSpc>
            </a:pPr>
            <a:r>
              <a:rPr sz="1300" b="1" i="0">
                <a:solidFill>
                  <a:srgbClr val="1F3B57"/>
                </a:solidFill>
                <a:latin typeface="Calibri"/>
              </a:rPr>
              <a:t>Original:</a:t>
            </a:r>
          </a:p>
        </p:txBody>
      </p:sp>
      <p:sp>
        <p:nvSpPr>
          <p:cNvPr id="6" name="TextBox 5"/>
          <p:cNvSpPr txBox="1"/>
          <p:nvPr/>
        </p:nvSpPr>
        <p:spPr>
          <a:xfrm>
            <a:off x="5900000" y="1350000"/>
            <a:ext cx="5700000" cy="500000"/>
          </a:xfrm>
          <a:prstGeom prst="rect">
            <a:avLst/>
          </a:prstGeom>
          <a:noFill/>
        </p:spPr>
        <p:txBody>
          <a:bodyPr wrap="square" anchor="t">
            <a:spAutoFit/>
          </a:bodyPr>
          <a:lstStyle/>
          <a:p>
            <a:pPr algn="l">
              <a:lnSpc>
                <a:spcPct val="110000"/>
              </a:lnSpc>
            </a:pPr>
            <a:r>
              <a:rPr sz="1300" b="0" i="0">
                <a:solidFill>
                  <a:srgbClr val="000000"/>
                </a:solidFill>
                <a:latin typeface="Calibri"/>
              </a:rPr>
              <a:t>"How do I reverse a linked list in Java?"</a:t>
            </a:r>
          </a:p>
        </p:txBody>
      </p:sp>
      <p:sp>
        <p:nvSpPr>
          <p:cNvPr id="7" name="TextBox 6"/>
          <p:cNvSpPr txBox="1"/>
          <p:nvPr/>
        </p:nvSpPr>
        <p:spPr>
          <a:xfrm>
            <a:off x="3736109" y="1970000"/>
            <a:ext cx="2100000" cy="300000"/>
          </a:xfrm>
          <a:prstGeom prst="rect">
            <a:avLst/>
          </a:prstGeom>
          <a:noFill/>
        </p:spPr>
        <p:txBody>
          <a:bodyPr wrap="square" anchor="t">
            <a:spAutoFit/>
          </a:bodyPr>
          <a:lstStyle/>
          <a:p>
            <a:pPr algn="l">
              <a:lnSpc>
                <a:spcPct val="110000"/>
              </a:lnSpc>
            </a:pPr>
            <a:r>
              <a:rPr sz="1300" b="1" i="0">
                <a:solidFill>
                  <a:srgbClr val="1F3B57"/>
                </a:solidFill>
                <a:latin typeface="Calibri"/>
              </a:rPr>
              <a:t>After preprocessing:</a:t>
            </a:r>
          </a:p>
        </p:txBody>
      </p:sp>
      <p:sp>
        <p:nvSpPr>
          <p:cNvPr id="8" name="TextBox 7"/>
          <p:cNvSpPr txBox="1"/>
          <p:nvPr/>
        </p:nvSpPr>
        <p:spPr>
          <a:xfrm>
            <a:off x="5900000" y="1970000"/>
            <a:ext cx="5700000" cy="500000"/>
          </a:xfrm>
          <a:prstGeom prst="rect">
            <a:avLst/>
          </a:prstGeom>
          <a:noFill/>
        </p:spPr>
        <p:txBody>
          <a:bodyPr wrap="square" anchor="t">
            <a:spAutoFit/>
          </a:bodyPr>
          <a:lstStyle/>
          <a:p>
            <a:pPr algn="l">
              <a:lnSpc>
                <a:spcPct val="110000"/>
              </a:lnSpc>
            </a:pPr>
            <a:r>
              <a:rPr sz="1300" b="0" i="0">
                <a:solidFill>
                  <a:srgbClr val="000000"/>
                </a:solidFill>
                <a:latin typeface="Calibri"/>
              </a:rPr>
              <a:t>reverse linked list java</a:t>
            </a:r>
          </a:p>
        </p:txBody>
      </p:sp>
      <p:sp>
        <p:nvSpPr>
          <p:cNvPr id="9" name="TextBox 8"/>
          <p:cNvSpPr txBox="1"/>
          <p:nvPr/>
        </p:nvSpPr>
        <p:spPr>
          <a:xfrm>
            <a:off x="3736109" y="2590000"/>
            <a:ext cx="2100000" cy="300000"/>
          </a:xfrm>
          <a:prstGeom prst="rect">
            <a:avLst/>
          </a:prstGeom>
          <a:noFill/>
        </p:spPr>
        <p:txBody>
          <a:bodyPr wrap="square" anchor="t">
            <a:spAutoFit/>
          </a:bodyPr>
          <a:lstStyle/>
          <a:p>
            <a:pPr algn="l">
              <a:lnSpc>
                <a:spcPct val="110000"/>
              </a:lnSpc>
            </a:pPr>
            <a:r>
              <a:rPr sz="1300" b="1" i="0">
                <a:solidFill>
                  <a:srgbClr val="1F3B57"/>
                </a:solidFill>
                <a:latin typeface="Calibri"/>
              </a:rPr>
              <a:t>2-word shingles:</a:t>
            </a:r>
          </a:p>
        </p:txBody>
      </p:sp>
      <p:sp>
        <p:nvSpPr>
          <p:cNvPr id="10" name="TextBox 9"/>
          <p:cNvSpPr txBox="1"/>
          <p:nvPr/>
        </p:nvSpPr>
        <p:spPr>
          <a:xfrm>
            <a:off x="5900000" y="2590000"/>
            <a:ext cx="5700000" cy="500000"/>
          </a:xfrm>
          <a:prstGeom prst="rect">
            <a:avLst/>
          </a:prstGeom>
          <a:noFill/>
        </p:spPr>
        <p:txBody>
          <a:bodyPr wrap="square" anchor="t">
            <a:spAutoFit/>
          </a:bodyPr>
          <a:lstStyle/>
          <a:p>
            <a:pPr algn="l">
              <a:lnSpc>
                <a:spcPct val="110000"/>
              </a:lnSpc>
            </a:pPr>
            <a:r>
              <a:rPr sz="1300" b="0" i="0">
                <a:solidFill>
                  <a:srgbClr val="000000"/>
                </a:solidFill>
                <a:latin typeface="Calibri"/>
              </a:rPr>
              <a:t>reverse linked  •  linked list  •  list java</a:t>
            </a:r>
          </a:p>
        </p:txBody>
      </p:sp>
      <p:sp>
        <p:nvSpPr>
          <p:cNvPr id="11" name="Rounded Rectangle 10"/>
          <p:cNvSpPr/>
          <p:nvPr/>
        </p:nvSpPr>
        <p:spPr>
          <a:xfrm>
            <a:off x="3736109" y="3360000"/>
            <a:ext cx="7900000" cy="1050000"/>
          </a:xfrm>
          <a:prstGeom prst="round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Jaccard Similarity</a:t>
            </a:r>
          </a:p>
          <a:p>
            <a:pPr algn="ctr"/>
            <a:r>
              <a:rPr sz="2000" b="1">
                <a:solidFill>
                  <a:srgbClr val="FFFFFF"/>
                </a:solidFill>
                <a:latin typeface="Calibri"/>
              </a:rPr>
              <a:t>J(A, B) = |A ∩ B| / |A ∪ B|</a:t>
            </a:r>
          </a:p>
        </p:txBody>
      </p:sp>
      <p:sp>
        <p:nvSpPr>
          <p:cNvPr id="12" name="TextBox 11"/>
          <p:cNvSpPr txBox="1"/>
          <p:nvPr/>
        </p:nvSpPr>
        <p:spPr>
          <a:xfrm>
            <a:off x="3736109" y="4560000"/>
            <a:ext cx="7900000" cy="500000"/>
          </a:xfrm>
          <a:prstGeom prst="rect">
            <a:avLst/>
          </a:prstGeom>
          <a:noFill/>
        </p:spPr>
        <p:txBody>
          <a:bodyPr wrap="square" anchor="t">
            <a:spAutoFit/>
          </a:bodyPr>
          <a:lstStyle/>
          <a:p>
            <a:pPr algn="ctr">
              <a:lnSpc>
                <a:spcPct val="110000"/>
              </a:lnSpc>
            </a:pPr>
            <a:r>
              <a:rPr sz="1500" b="0" i="1">
                <a:solidFill>
                  <a:srgbClr val="000000"/>
                </a:solidFill>
                <a:latin typeface="Calibri"/>
              </a:rPr>
              <a:t>Higher overlap → Higher similarity → Stronger duplicate candidate.</a:t>
            </a:r>
          </a:p>
        </p:txBody>
      </p:sp>
    </p:spTree>
    <p:extLst>
      <p:ext uri="{BB962C8B-B14F-4D97-AF65-F5344CB8AC3E}">
        <p14:creationId xmlns:p14="http://schemas.microsoft.com/office/powerpoint/2010/main" val="167242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381400" y="221673"/>
            <a:ext cx="542920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81400" y="221673"/>
            <a:ext cx="6829200" cy="584775"/>
          </a:xfrm>
          <a:prstGeom prst="rect">
            <a:avLst/>
          </a:prstGeom>
          <a:noFill/>
        </p:spPr>
        <p:txBody>
          <a:bodyPr wrap="square" rtlCol="0">
            <a:spAutoFit/>
          </a:bodyPr>
          <a:lstStyle/>
          <a:p>
            <a:pPr algn="ctr"/>
            <a:r>
              <a:rPr lang="en-US" sz="3000" b="1" dirty="0">
                <a:solidFill>
                  <a:schemeClr val="bg1"/>
                </a:solidFill>
              </a:rPr>
              <a:t>Priority Queue &amp; Ranking</a:t>
            </a:r>
          </a:p>
        </p:txBody>
      </p:sp>
      <p:sp>
        <p:nvSpPr>
          <p:cNvPr id="4" name="TextBox 3"/>
          <p:cNvSpPr txBox="1"/>
          <p:nvPr/>
        </p:nvSpPr>
        <p:spPr>
          <a:xfrm>
            <a:off x="3736109" y="900000"/>
            <a:ext cx="7900000" cy="350000"/>
          </a:xfrm>
          <a:prstGeom prst="rect">
            <a:avLst/>
          </a:prstGeom>
          <a:noFill/>
        </p:spPr>
        <p:txBody>
          <a:bodyPr wrap="square" anchor="t">
            <a:spAutoFit/>
          </a:bodyPr>
          <a:lstStyle/>
          <a:p>
            <a:pPr algn="l">
              <a:lnSpc>
                <a:spcPct val="110000"/>
              </a:lnSpc>
            </a:pPr>
            <a:r>
              <a:rPr sz="1500" b="1" i="0">
                <a:solidFill>
                  <a:srgbClr val="C00000"/>
                </a:solidFill>
                <a:latin typeface="Calibri"/>
              </a:rPr>
              <a:t>Candidate Questions (Sample Output)</a:t>
            </a:r>
          </a:p>
        </p:txBody>
      </p:sp>
      <p:sp>
        <p:nvSpPr>
          <p:cNvPr id="5" name="TextBox 4"/>
          <p:cNvSpPr txBox="1"/>
          <p:nvPr/>
        </p:nvSpPr>
        <p:spPr>
          <a:xfrm>
            <a:off x="3736109" y="1350000"/>
            <a:ext cx="700000" cy="420000"/>
          </a:xfrm>
          <a:prstGeom prst="rect">
            <a:avLst/>
          </a:prstGeom>
          <a:noFill/>
        </p:spPr>
        <p:txBody>
          <a:bodyPr wrap="square" anchor="ctr">
            <a:spAutoFit/>
          </a:bodyPr>
          <a:lstStyle/>
          <a:p>
            <a:pPr algn="l">
              <a:lnSpc>
                <a:spcPct val="110000"/>
              </a:lnSpc>
            </a:pPr>
            <a:r>
              <a:rPr sz="1400" b="1" i="0">
                <a:solidFill>
                  <a:srgbClr val="000000"/>
                </a:solidFill>
                <a:latin typeface="Calibri"/>
              </a:rPr>
              <a:t>Q3</a:t>
            </a:r>
          </a:p>
        </p:txBody>
      </p:sp>
      <p:sp>
        <p:nvSpPr>
          <p:cNvPr id="6" name="Rounded Rectangle 5"/>
          <p:cNvSpPr/>
          <p:nvPr/>
        </p:nvSpPr>
        <p:spPr>
          <a:xfrm>
            <a:off x="4436109" y="1390000"/>
            <a:ext cx="5320000" cy="34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lIns="60000" rtlCol="0" anchor="ctr"/>
          <a:lstStyle/>
          <a:p>
            <a:pPr algn="r"/>
            <a:r>
              <a:rPr sz="1300" b="1">
                <a:solidFill>
                  <a:srgbClr val="FFFFFF"/>
                </a:solidFill>
                <a:latin typeface="Calibri"/>
              </a:rPr>
              <a:t>95%</a:t>
            </a:r>
          </a:p>
        </p:txBody>
      </p:sp>
      <p:sp>
        <p:nvSpPr>
          <p:cNvPr id="7" name="TextBox 6"/>
          <p:cNvSpPr txBox="1"/>
          <p:nvPr/>
        </p:nvSpPr>
        <p:spPr>
          <a:xfrm>
            <a:off x="3736109" y="1830000"/>
            <a:ext cx="700000" cy="420000"/>
          </a:xfrm>
          <a:prstGeom prst="rect">
            <a:avLst/>
          </a:prstGeom>
          <a:noFill/>
        </p:spPr>
        <p:txBody>
          <a:bodyPr wrap="square" anchor="ctr">
            <a:spAutoFit/>
          </a:bodyPr>
          <a:lstStyle/>
          <a:p>
            <a:pPr algn="l">
              <a:lnSpc>
                <a:spcPct val="110000"/>
              </a:lnSpc>
            </a:pPr>
            <a:r>
              <a:rPr sz="1400" b="1" i="0">
                <a:solidFill>
                  <a:srgbClr val="000000"/>
                </a:solidFill>
                <a:latin typeface="Calibri"/>
              </a:rPr>
              <a:t>Q1</a:t>
            </a:r>
          </a:p>
        </p:txBody>
      </p:sp>
      <p:sp>
        <p:nvSpPr>
          <p:cNvPr id="8" name="Rounded Rectangle 7"/>
          <p:cNvSpPr/>
          <p:nvPr/>
        </p:nvSpPr>
        <p:spPr>
          <a:xfrm>
            <a:off x="4436109" y="1870000"/>
            <a:ext cx="5152000" cy="34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lIns="60000" rtlCol="0" anchor="ctr"/>
          <a:lstStyle/>
          <a:p>
            <a:pPr algn="r"/>
            <a:r>
              <a:rPr sz="1300" b="1">
                <a:solidFill>
                  <a:srgbClr val="FFFFFF"/>
                </a:solidFill>
                <a:latin typeface="Calibri"/>
              </a:rPr>
              <a:t>92%</a:t>
            </a:r>
          </a:p>
        </p:txBody>
      </p:sp>
      <p:sp>
        <p:nvSpPr>
          <p:cNvPr id="9" name="TextBox 8"/>
          <p:cNvSpPr txBox="1"/>
          <p:nvPr/>
        </p:nvSpPr>
        <p:spPr>
          <a:xfrm>
            <a:off x="3736109" y="2310000"/>
            <a:ext cx="700000" cy="420000"/>
          </a:xfrm>
          <a:prstGeom prst="rect">
            <a:avLst/>
          </a:prstGeom>
          <a:noFill/>
        </p:spPr>
        <p:txBody>
          <a:bodyPr wrap="square" anchor="ctr">
            <a:spAutoFit/>
          </a:bodyPr>
          <a:lstStyle/>
          <a:p>
            <a:pPr algn="l">
              <a:lnSpc>
                <a:spcPct val="110000"/>
              </a:lnSpc>
            </a:pPr>
            <a:r>
              <a:rPr sz="1400" b="1" i="0">
                <a:solidFill>
                  <a:srgbClr val="000000"/>
                </a:solidFill>
                <a:latin typeface="Calibri"/>
              </a:rPr>
              <a:t>Q8</a:t>
            </a:r>
          </a:p>
        </p:txBody>
      </p:sp>
      <p:sp>
        <p:nvSpPr>
          <p:cNvPr id="10" name="Rounded Rectangle 9"/>
          <p:cNvSpPr/>
          <p:nvPr/>
        </p:nvSpPr>
        <p:spPr>
          <a:xfrm>
            <a:off x="4436109" y="2350000"/>
            <a:ext cx="4704000" cy="34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lIns="60000" rtlCol="0" anchor="ctr"/>
          <a:lstStyle/>
          <a:p>
            <a:pPr algn="r"/>
            <a:r>
              <a:rPr sz="1300" b="1">
                <a:solidFill>
                  <a:srgbClr val="FFFFFF"/>
                </a:solidFill>
                <a:latin typeface="Calibri"/>
              </a:rPr>
              <a:t>84%</a:t>
            </a:r>
          </a:p>
        </p:txBody>
      </p:sp>
      <p:sp>
        <p:nvSpPr>
          <p:cNvPr id="11" name="TextBox 10"/>
          <p:cNvSpPr txBox="1"/>
          <p:nvPr/>
        </p:nvSpPr>
        <p:spPr>
          <a:xfrm>
            <a:off x="3736109" y="2790000"/>
            <a:ext cx="700000" cy="420000"/>
          </a:xfrm>
          <a:prstGeom prst="rect">
            <a:avLst/>
          </a:prstGeom>
          <a:noFill/>
        </p:spPr>
        <p:txBody>
          <a:bodyPr wrap="square" anchor="ctr">
            <a:spAutoFit/>
          </a:bodyPr>
          <a:lstStyle/>
          <a:p>
            <a:pPr algn="l">
              <a:lnSpc>
                <a:spcPct val="110000"/>
              </a:lnSpc>
            </a:pPr>
            <a:r>
              <a:rPr sz="1400" b="1" i="0">
                <a:solidFill>
                  <a:srgbClr val="000000"/>
                </a:solidFill>
                <a:latin typeface="Calibri"/>
              </a:rPr>
              <a:t>Q5</a:t>
            </a:r>
          </a:p>
        </p:txBody>
      </p:sp>
      <p:sp>
        <p:nvSpPr>
          <p:cNvPr id="12" name="Rounded Rectangle 11"/>
          <p:cNvSpPr/>
          <p:nvPr/>
        </p:nvSpPr>
        <p:spPr>
          <a:xfrm>
            <a:off x="4436109" y="2830000"/>
            <a:ext cx="3528000" cy="34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lIns="60000" rtlCol="0" anchor="ctr"/>
          <a:lstStyle/>
          <a:p>
            <a:pPr algn="r"/>
            <a:r>
              <a:rPr sz="1300" b="1">
                <a:solidFill>
                  <a:srgbClr val="FFFFFF"/>
                </a:solidFill>
                <a:latin typeface="Calibri"/>
              </a:rPr>
              <a:t>63%</a:t>
            </a:r>
          </a:p>
        </p:txBody>
      </p:sp>
      <p:sp>
        <p:nvSpPr>
          <p:cNvPr id="13" name="Rounded Rectangle 12"/>
          <p:cNvSpPr/>
          <p:nvPr/>
        </p:nvSpPr>
        <p:spPr>
          <a:xfrm>
            <a:off x="3736109" y="3370000"/>
            <a:ext cx="7900000" cy="560000"/>
          </a:xfrm>
          <a:prstGeom prst="round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400" b="1">
                <a:solidFill>
                  <a:srgbClr val="FFFFFF"/>
                </a:solidFill>
                <a:latin typeface="Calibri"/>
              </a:rPr>
              <a:t>Priority Queue</a:t>
            </a:r>
          </a:p>
        </p:txBody>
      </p:sp>
      <p:sp>
        <p:nvSpPr>
          <p:cNvPr id="14" name="Down Arrow 13"/>
          <p:cNvSpPr/>
          <p:nvPr/>
        </p:nvSpPr>
        <p:spPr>
          <a:xfrm>
            <a:off x="7576109" y="3950000"/>
            <a:ext cx="220000" cy="9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36109" y="4060000"/>
            <a:ext cx="7900000" cy="560000"/>
          </a:xfrm>
          <a:prstGeom prst="round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400" b="1">
                <a:solidFill>
                  <a:srgbClr val="FFFFFF"/>
                </a:solidFill>
                <a:latin typeface="Calibri"/>
              </a:rPr>
              <a:t>Highest Score First</a:t>
            </a:r>
          </a:p>
        </p:txBody>
      </p:sp>
      <p:sp>
        <p:nvSpPr>
          <p:cNvPr id="16" name="Down Arrow 15"/>
          <p:cNvSpPr/>
          <p:nvPr/>
        </p:nvSpPr>
        <p:spPr>
          <a:xfrm>
            <a:off x="7576109" y="4640000"/>
            <a:ext cx="220000" cy="9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736109" y="4750000"/>
            <a:ext cx="7900000" cy="560000"/>
          </a:xfrm>
          <a:prstGeom prst="round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400" b="1">
                <a:solidFill>
                  <a:srgbClr val="FFFFFF"/>
                </a:solidFill>
                <a:latin typeface="Calibri"/>
              </a:rPr>
              <a:t>Top-K Results</a:t>
            </a:r>
          </a:p>
        </p:txBody>
      </p:sp>
      <p:sp>
        <p:nvSpPr>
          <p:cNvPr id="18" name="TextBox 17"/>
          <p:cNvSpPr txBox="1"/>
          <p:nvPr/>
        </p:nvSpPr>
        <p:spPr>
          <a:xfrm>
            <a:off x="3736109" y="5460000"/>
            <a:ext cx="7900000" cy="700000"/>
          </a:xfrm>
          <a:prstGeom prst="rect">
            <a:avLst/>
          </a:prstGeom>
          <a:noFill/>
        </p:spPr>
        <p:txBody>
          <a:bodyPr wrap="square" anchor="t">
            <a:spAutoFit/>
          </a:bodyPr>
          <a:lstStyle/>
          <a:p>
            <a:pPr algn="l">
              <a:lnSpc>
                <a:spcPct val="120000"/>
              </a:lnSpc>
            </a:pPr>
            <a:r>
              <a:rPr sz="1300" b="0" i="1">
                <a:solidFill>
                  <a:srgbClr val="555555"/>
                </a:solidFill>
                <a:latin typeface="Calibri"/>
              </a:rPr>
              <a:t>After similarity calculation, we may have several candidates. The Priority Queue helps us efficiently maintain and retrieve the highest-scoring questions.</a:t>
            </a:r>
          </a:p>
        </p:txBody>
      </p:sp>
    </p:spTree>
    <p:extLst>
      <p:ext uri="{BB962C8B-B14F-4D97-AF65-F5344CB8AC3E}">
        <p14:creationId xmlns:p14="http://schemas.microsoft.com/office/powerpoint/2010/main" val="1672422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p:cNvSpPr txBox="1"/>
          <p:nvPr/>
        </p:nvSpPr>
        <p:spPr>
          <a:xfrm>
            <a:off x="3736109" y="950000"/>
            <a:ext cx="3800000" cy="350000"/>
          </a:xfrm>
          <a:prstGeom prst="rect">
            <a:avLst/>
          </a:prstGeom>
          <a:noFill/>
        </p:spPr>
        <p:txBody>
          <a:bodyPr wrap="square" anchor="t">
            <a:spAutoFit/>
          </a:bodyPr>
          <a:lstStyle/>
          <a:p>
            <a:pPr algn="l">
              <a:lnSpc>
                <a:spcPct val="110000"/>
              </a:lnSpc>
            </a:pPr>
            <a:r>
              <a:rPr sz="1700" b="1" i="0">
                <a:solidFill>
                  <a:srgbClr val="C00000"/>
                </a:solidFill>
                <a:latin typeface="Calibri"/>
              </a:rPr>
              <a:t>Hardware</a:t>
            </a:r>
          </a:p>
        </p:txBody>
      </p:sp>
      <p:sp>
        <p:nvSpPr>
          <p:cNvPr id="5" name="TextBox 4"/>
          <p:cNvSpPr txBox="1"/>
          <p:nvPr/>
        </p:nvSpPr>
        <p:spPr>
          <a:xfrm>
            <a:off x="3736109" y="1380000"/>
            <a:ext cx="3800000" cy="3600000"/>
          </a:xfrm>
          <a:prstGeom prst="rect">
            <a:avLst/>
          </a:prstGeom>
          <a:noFill/>
        </p:spPr>
        <p:txBody>
          <a:bodyPr wrap="square">
            <a:spAutoFit/>
          </a:bodyPr>
          <a:lstStyle/>
          <a:p>
            <a:pPr marL="228600" indent="-228600" algn="l">
              <a:lnSpc>
                <a:spcPct val="120000"/>
              </a:lnSpc>
              <a:spcAft>
                <a:spcPts val="1200"/>
              </a:spcAft>
              <a:buFont typeface="Arial"/>
              <a:buChar char="•"/>
            </a:pPr>
            <a:r>
              <a:rPr sz="1400">
                <a:solidFill>
                  <a:srgbClr val="000000"/>
                </a:solidFill>
                <a:latin typeface="Calibri"/>
              </a:rPr>
              <a:t>Laptop / Desktop</a:t>
            </a:r>
          </a:p>
          <a:p>
            <a:pPr marL="228600" indent="-228600" algn="l">
              <a:lnSpc>
                <a:spcPct val="120000"/>
              </a:lnSpc>
              <a:spcAft>
                <a:spcPts val="1200"/>
              </a:spcAft>
              <a:buFont typeface="Arial"/>
              <a:buChar char="•"/>
            </a:pPr>
            <a:r>
              <a:rPr sz="1400">
                <a:solidFill>
                  <a:srgbClr val="000000"/>
                </a:solidFill>
                <a:latin typeface="Calibri"/>
              </a:rPr>
              <a:t>4 GB RAM minimum</a:t>
            </a:r>
          </a:p>
          <a:p>
            <a:pPr marL="228600" indent="-228600" algn="l">
              <a:lnSpc>
                <a:spcPct val="120000"/>
              </a:lnSpc>
              <a:spcAft>
                <a:spcPts val="1200"/>
              </a:spcAft>
              <a:buFont typeface="Arial"/>
              <a:buChar char="•"/>
            </a:pPr>
            <a:r>
              <a:rPr sz="1400">
                <a:solidFill>
                  <a:srgbClr val="000000"/>
                </a:solidFill>
                <a:latin typeface="Calibri"/>
              </a:rPr>
              <a:t>Processor: Intel i3 / equivalent or above</a:t>
            </a:r>
          </a:p>
          <a:p>
            <a:pPr marL="228600" indent="-228600" algn="l">
              <a:lnSpc>
                <a:spcPct val="120000"/>
              </a:lnSpc>
              <a:spcAft>
                <a:spcPts val="1200"/>
              </a:spcAft>
              <a:buFont typeface="Arial"/>
              <a:buChar char="•"/>
            </a:pPr>
            <a:r>
              <a:rPr sz="1400">
                <a:solidFill>
                  <a:srgbClr val="000000"/>
                </a:solidFill>
                <a:latin typeface="Calibri"/>
              </a:rPr>
              <a:t>Storage: 10 GB available</a:t>
            </a:r>
          </a:p>
          <a:p>
            <a:pPr marL="228600" indent="-228600" algn="l">
              <a:lnSpc>
                <a:spcPct val="120000"/>
              </a:lnSpc>
              <a:spcAft>
                <a:spcPts val="1200"/>
              </a:spcAft>
              <a:buFont typeface="Arial"/>
              <a:buChar char="•"/>
            </a:pPr>
            <a:r>
              <a:rPr sz="1400">
                <a:solidFill>
                  <a:srgbClr val="000000"/>
                </a:solidFill>
                <a:latin typeface="Calibri"/>
              </a:rPr>
              <a:t>Internet connection if required for dataset / resources</a:t>
            </a:r>
          </a:p>
        </p:txBody>
      </p:sp>
      <p:sp>
        <p:nvSpPr>
          <p:cNvPr id="6" name="TextBox 5"/>
          <p:cNvSpPr txBox="1"/>
          <p:nvPr/>
        </p:nvSpPr>
        <p:spPr>
          <a:xfrm>
            <a:off x="7750000" y="950000"/>
            <a:ext cx="3900000" cy="350000"/>
          </a:xfrm>
          <a:prstGeom prst="rect">
            <a:avLst/>
          </a:prstGeom>
          <a:noFill/>
        </p:spPr>
        <p:txBody>
          <a:bodyPr wrap="square" anchor="t">
            <a:spAutoFit/>
          </a:bodyPr>
          <a:lstStyle/>
          <a:p>
            <a:pPr algn="l">
              <a:lnSpc>
                <a:spcPct val="110000"/>
              </a:lnSpc>
            </a:pPr>
            <a:r>
              <a:rPr sz="1700" b="1" i="0">
                <a:solidFill>
                  <a:srgbClr val="C00000"/>
                </a:solidFill>
                <a:latin typeface="Calibri"/>
              </a:rPr>
              <a:t>Software</a:t>
            </a:r>
          </a:p>
        </p:txBody>
      </p:sp>
      <p:sp>
        <p:nvSpPr>
          <p:cNvPr id="7" name="TextBox 6"/>
          <p:cNvSpPr txBox="1"/>
          <p:nvPr/>
        </p:nvSpPr>
        <p:spPr>
          <a:xfrm>
            <a:off x="7750000" y="1380000"/>
            <a:ext cx="3900000" cy="3600000"/>
          </a:xfrm>
          <a:prstGeom prst="rect">
            <a:avLst/>
          </a:prstGeom>
          <a:noFill/>
        </p:spPr>
        <p:txBody>
          <a:bodyPr wrap="square">
            <a:spAutoFit/>
          </a:bodyPr>
          <a:lstStyle/>
          <a:p>
            <a:pPr marL="228600" indent="-228600" algn="l">
              <a:lnSpc>
                <a:spcPct val="120000"/>
              </a:lnSpc>
              <a:spcAft>
                <a:spcPts val="1200"/>
              </a:spcAft>
              <a:buFont typeface="Arial"/>
              <a:buChar char="•"/>
            </a:pPr>
            <a:r>
              <a:rPr sz="1400">
                <a:solidFill>
                  <a:srgbClr val="000000"/>
                </a:solidFill>
                <a:latin typeface="Calibri"/>
              </a:rPr>
              <a:t>Language: [ADD – Java or Python, whichever is implemented]</a:t>
            </a:r>
          </a:p>
          <a:p>
            <a:pPr marL="228600" indent="-228600" algn="l">
              <a:lnSpc>
                <a:spcPct val="120000"/>
              </a:lnSpc>
              <a:spcAft>
                <a:spcPts val="1200"/>
              </a:spcAft>
              <a:buFont typeface="Arial"/>
              <a:buChar char="•"/>
            </a:pPr>
            <a:r>
              <a:rPr sz="1400">
                <a:solidFill>
                  <a:srgbClr val="000000"/>
                </a:solidFill>
                <a:latin typeface="Calibri"/>
              </a:rPr>
              <a:t>IDE: [ADD ACTUAL IDE – VS Code / IntelliJ IDEA / Eclipse]</a:t>
            </a:r>
          </a:p>
          <a:p>
            <a:pPr marL="228600" indent="-228600" algn="l">
              <a:lnSpc>
                <a:spcPct val="120000"/>
              </a:lnSpc>
              <a:spcAft>
                <a:spcPts val="1200"/>
              </a:spcAft>
              <a:buFont typeface="Arial"/>
              <a:buChar char="•"/>
            </a:pPr>
            <a:r>
              <a:rPr sz="1400">
                <a:solidFill>
                  <a:srgbClr val="000000"/>
                </a:solidFill>
                <a:latin typeface="Calibri"/>
              </a:rPr>
              <a:t>Database: [ADD IF USED – MySQL / SQLite – or remove if not applicable]</a:t>
            </a:r>
          </a:p>
          <a:p>
            <a:pPr marL="228600" indent="-228600" algn="l">
              <a:lnSpc>
                <a:spcPct val="120000"/>
              </a:lnSpc>
              <a:spcAft>
                <a:spcPts val="1200"/>
              </a:spcAft>
              <a:buFont typeface="Arial"/>
              <a:buChar char="•"/>
            </a:pPr>
            <a:r>
              <a:rPr sz="1400">
                <a:solidFill>
                  <a:srgbClr val="000000"/>
                </a:solidFill>
                <a:latin typeface="Calibri"/>
              </a:rPr>
              <a:t>Operating System: Windows / Linux / macOS</a:t>
            </a:r>
          </a:p>
          <a:p>
            <a:pPr marL="228600" indent="-228600" algn="l">
              <a:lnSpc>
                <a:spcPct val="120000"/>
              </a:lnSpc>
              <a:spcAft>
                <a:spcPts val="1200"/>
              </a:spcAft>
              <a:buFont typeface="Arial"/>
              <a:buChar char="•"/>
            </a:pPr>
            <a:r>
              <a:rPr sz="1400">
                <a:solidFill>
                  <a:srgbClr val="000000"/>
                </a:solidFill>
                <a:latin typeface="Calibri"/>
              </a:rPr>
              <a:t>Git / GitHub (optional)</a:t>
            </a:r>
          </a:p>
        </p:txBody>
      </p:sp>
      <p:sp>
        <p:nvSpPr>
          <p:cNvPr id="8" name="Rounded Rectangle 7"/>
          <p:cNvSpPr/>
          <p:nvPr/>
        </p:nvSpPr>
        <p:spPr>
          <a:xfrm>
            <a:off x="3736109" y="5250000"/>
            <a:ext cx="7900000" cy="620000"/>
          </a:xfrm>
          <a:prstGeom prst="roundRect">
            <a:avLst/>
          </a:prstGeom>
          <a:solidFill>
            <a:srgbClr val="FBF0F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80000" rIns="180000" rtlCol="0" anchor="ctr"/>
          <a:lstStyle/>
          <a:p>
            <a:pPr algn="ctr"/>
            <a:r>
              <a:rPr sz="1200" i="1">
                <a:solidFill>
                  <a:srgbClr val="555555"/>
                </a:solidFill>
                <a:latin typeface="Calibri"/>
              </a:rPr>
              <a:t>Note: list only the technologies your team actually used — remove anything not applicable.</a:t>
            </a:r>
          </a:p>
        </p:txBody>
      </p:sp>
    </p:spTree>
    <p:extLst>
      <p:ext uri="{BB962C8B-B14F-4D97-AF65-F5344CB8AC3E}">
        <p14:creationId xmlns:p14="http://schemas.microsoft.com/office/powerpoint/2010/main" val="2292750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p:cNvSpPr txBox="1"/>
          <p:nvPr/>
        </p:nvSpPr>
        <p:spPr>
          <a:xfrm>
            <a:off x="3736109" y="900000"/>
            <a:ext cx="7900000" cy="350000"/>
          </a:xfrm>
          <a:prstGeom prst="rect">
            <a:avLst/>
          </a:prstGeom>
          <a:noFill/>
        </p:spPr>
        <p:txBody>
          <a:bodyPr wrap="square" anchor="t">
            <a:spAutoFit/>
          </a:bodyPr>
          <a:lstStyle/>
          <a:p>
            <a:pPr algn="l">
              <a:lnSpc>
                <a:spcPct val="110000"/>
              </a:lnSpc>
            </a:pPr>
            <a:r>
              <a:rPr sz="1500" b="1" i="0">
                <a:solidFill>
                  <a:srgbClr val="C00000"/>
                </a:solidFill>
                <a:latin typeface="Calibri"/>
              </a:rPr>
              <a:t>Input</a:t>
            </a:r>
          </a:p>
        </p:txBody>
      </p:sp>
      <p:sp>
        <p:nvSpPr>
          <p:cNvPr id="5" name="Rounded Rectangle 4"/>
          <p:cNvSpPr/>
          <p:nvPr/>
        </p:nvSpPr>
        <p:spPr>
          <a:xfrm>
            <a:off x="3736109" y="1280000"/>
            <a:ext cx="7900000" cy="550000"/>
          </a:xfrm>
          <a:prstGeom prst="roundRect">
            <a:avLst/>
          </a:prstGeom>
          <a:solidFill>
            <a:srgbClr val="F5F0F0"/>
          </a:solidFill>
          <a:ln w="12700">
            <a:solidFill>
              <a:srgbClr val="1F3B57"/>
            </a:solidFill>
          </a:ln>
          <a:effectLst/>
        </p:spPr>
        <p:style>
          <a:lnRef idx="1">
            <a:schemeClr val="accent1"/>
          </a:lnRef>
          <a:fillRef idx="3">
            <a:schemeClr val="accent1"/>
          </a:fillRef>
          <a:effectRef idx="2">
            <a:schemeClr val="accent1"/>
          </a:effectRef>
          <a:fontRef idx="minor">
            <a:schemeClr val="lt1"/>
          </a:fontRef>
        </p:style>
        <p:txBody>
          <a:bodyPr lIns="200000" rtlCol="0" anchor="ctr"/>
          <a:lstStyle/>
          <a:p>
            <a:pPr algn="ctr"/>
            <a:r>
              <a:rPr sz="1500" i="1">
                <a:solidFill>
                  <a:srgbClr val="000000"/>
                </a:solidFill>
                <a:latin typeface="Calibri"/>
              </a:rPr>
              <a:t>"How can I reverse a Java linked list?"</a:t>
            </a:r>
          </a:p>
        </p:txBody>
      </p:sp>
      <p:sp>
        <p:nvSpPr>
          <p:cNvPr id="6" name="TextBox 5"/>
          <p:cNvSpPr txBox="1"/>
          <p:nvPr/>
        </p:nvSpPr>
        <p:spPr>
          <a:xfrm>
            <a:off x="3736109" y="2050000"/>
            <a:ext cx="7900000" cy="350000"/>
          </a:xfrm>
          <a:prstGeom prst="rect">
            <a:avLst/>
          </a:prstGeom>
          <a:noFill/>
        </p:spPr>
        <p:txBody>
          <a:bodyPr wrap="square" anchor="t">
            <a:spAutoFit/>
          </a:bodyPr>
          <a:lstStyle/>
          <a:p>
            <a:pPr algn="l">
              <a:lnSpc>
                <a:spcPct val="110000"/>
              </a:lnSpc>
            </a:pPr>
            <a:r>
              <a:rPr sz="1500" b="1" i="0">
                <a:solidFill>
                  <a:srgbClr val="C00000"/>
                </a:solidFill>
                <a:latin typeface="Calibri"/>
              </a:rPr>
              <a:t>Possible Similar Questions (Sample Output)</a:t>
            </a:r>
          </a:p>
        </p:txBody>
      </p:sp>
      <p:sp>
        <p:nvSpPr>
          <p:cNvPr id="7" name="Rounded Rectangle 6"/>
          <p:cNvSpPr/>
          <p:nvPr/>
        </p:nvSpPr>
        <p:spPr>
          <a:xfrm>
            <a:off x="3736109" y="2430000"/>
            <a:ext cx="7900000" cy="560000"/>
          </a:xfrm>
          <a:prstGeom prst="roundRect">
            <a:avLst/>
          </a:prstGeom>
          <a:solidFill>
            <a:srgbClr val="FFFFFF"/>
          </a:solidFill>
          <a:ln w="12700">
            <a:solidFill>
              <a:srgbClr val="DDCCCC"/>
            </a:solidFill>
          </a:ln>
          <a:effectLst/>
        </p:spPr>
        <p:style>
          <a:lnRef idx="1">
            <a:schemeClr val="accent1"/>
          </a:lnRef>
          <a:fillRef idx="3">
            <a:schemeClr val="accent1"/>
          </a:fillRef>
          <a:effectRef idx="2">
            <a:schemeClr val="accent1"/>
          </a:effectRef>
          <a:fontRef idx="minor">
            <a:schemeClr val="lt1"/>
          </a:fontRef>
        </p:style>
        <p:txBody>
          <a:bodyPr lIns="180000" rIns="150000" rtlCol="0" anchor="ctr"/>
          <a:lstStyle/>
          <a:p>
            <a:pPr algn="ctr"/>
            <a:r>
              <a:rPr sz="1300">
                <a:solidFill>
                  <a:srgbClr val="000000"/>
                </a:solidFill>
                <a:latin typeface="Calibri"/>
              </a:rPr>
              <a:t>1. How can I reverse a linked list using Java?   </a:t>
            </a:r>
            <a:r>
              <a:rPr sz="1300" b="1">
                <a:solidFill>
                  <a:srgbClr val="2E5E8C"/>
                </a:solidFill>
                <a:latin typeface="Calibri"/>
              </a:rPr>
              <a:t>Similarity: 95%</a:t>
            </a:r>
          </a:p>
        </p:txBody>
      </p:sp>
      <p:sp>
        <p:nvSpPr>
          <p:cNvPr id="8" name="Rounded Rectangle 7"/>
          <p:cNvSpPr/>
          <p:nvPr/>
        </p:nvSpPr>
        <p:spPr>
          <a:xfrm>
            <a:off x="3736109" y="3050000"/>
            <a:ext cx="7900000" cy="560000"/>
          </a:xfrm>
          <a:prstGeom prst="roundRect">
            <a:avLst/>
          </a:prstGeom>
          <a:solidFill>
            <a:srgbClr val="FFFFFF"/>
          </a:solidFill>
          <a:ln w="12700">
            <a:solidFill>
              <a:srgbClr val="DDCCCC"/>
            </a:solidFill>
          </a:ln>
          <a:effectLst/>
        </p:spPr>
        <p:style>
          <a:lnRef idx="1">
            <a:schemeClr val="accent1"/>
          </a:lnRef>
          <a:fillRef idx="3">
            <a:schemeClr val="accent1"/>
          </a:fillRef>
          <a:effectRef idx="2">
            <a:schemeClr val="accent1"/>
          </a:effectRef>
          <a:fontRef idx="minor">
            <a:schemeClr val="lt1"/>
          </a:fontRef>
        </p:style>
        <p:txBody>
          <a:bodyPr lIns="180000" rIns="150000" rtlCol="0" anchor="ctr"/>
          <a:lstStyle/>
          <a:p>
            <a:pPr algn="ctr"/>
            <a:r>
              <a:rPr sz="1300">
                <a:solidFill>
                  <a:srgbClr val="000000"/>
                </a:solidFill>
                <a:latin typeface="Calibri"/>
              </a:rPr>
              <a:t>2. How do I reverse a linked list in Java?   </a:t>
            </a:r>
            <a:r>
              <a:rPr sz="1300" b="1">
                <a:solidFill>
                  <a:srgbClr val="2E5E8C"/>
                </a:solidFill>
                <a:latin typeface="Calibri"/>
              </a:rPr>
              <a:t>Similarity: 92%</a:t>
            </a:r>
          </a:p>
        </p:txBody>
      </p:sp>
      <p:sp>
        <p:nvSpPr>
          <p:cNvPr id="9" name="Rounded Rectangle 8"/>
          <p:cNvSpPr/>
          <p:nvPr/>
        </p:nvSpPr>
        <p:spPr>
          <a:xfrm>
            <a:off x="3736109" y="3670000"/>
            <a:ext cx="7900000" cy="560000"/>
          </a:xfrm>
          <a:prstGeom prst="roundRect">
            <a:avLst/>
          </a:prstGeom>
          <a:solidFill>
            <a:srgbClr val="FFFFFF"/>
          </a:solidFill>
          <a:ln w="12700">
            <a:solidFill>
              <a:srgbClr val="DDCCCC"/>
            </a:solidFill>
          </a:ln>
          <a:effectLst/>
        </p:spPr>
        <p:style>
          <a:lnRef idx="1">
            <a:schemeClr val="accent1"/>
          </a:lnRef>
          <a:fillRef idx="3">
            <a:schemeClr val="accent1"/>
          </a:fillRef>
          <a:effectRef idx="2">
            <a:schemeClr val="accent1"/>
          </a:effectRef>
          <a:fontRef idx="minor">
            <a:schemeClr val="lt1"/>
          </a:fontRef>
        </p:style>
        <p:txBody>
          <a:bodyPr lIns="180000" rIns="150000" rtlCol="0" anchor="ctr"/>
          <a:lstStyle/>
          <a:p>
            <a:pPr algn="ctr"/>
            <a:r>
              <a:rPr sz="1300">
                <a:solidFill>
                  <a:srgbClr val="000000"/>
                </a:solidFill>
                <a:latin typeface="Calibri"/>
              </a:rPr>
              <a:t>3. How do I implement a stack in Java?   </a:t>
            </a:r>
            <a:r>
              <a:rPr sz="1300" b="1">
                <a:solidFill>
                  <a:srgbClr val="2E5E8C"/>
                </a:solidFill>
                <a:latin typeface="Calibri"/>
              </a:rPr>
              <a:t>Similarity: 24%</a:t>
            </a:r>
          </a:p>
        </p:txBody>
      </p:sp>
      <p:sp>
        <p:nvSpPr>
          <p:cNvPr id="10" name="TextBox 9"/>
          <p:cNvSpPr txBox="1"/>
          <p:nvPr/>
        </p:nvSpPr>
        <p:spPr>
          <a:xfrm>
            <a:off x="3736109" y="4370000"/>
            <a:ext cx="3000000" cy="350000"/>
          </a:xfrm>
          <a:prstGeom prst="rect">
            <a:avLst/>
          </a:prstGeom>
          <a:noFill/>
        </p:spPr>
        <p:txBody>
          <a:bodyPr wrap="square" anchor="t">
            <a:spAutoFit/>
          </a:bodyPr>
          <a:lstStyle/>
          <a:p>
            <a:pPr algn="l">
              <a:lnSpc>
                <a:spcPct val="110000"/>
              </a:lnSpc>
            </a:pPr>
            <a:r>
              <a:rPr sz="1500" b="1" i="0">
                <a:solidFill>
                  <a:srgbClr val="C00000"/>
                </a:solidFill>
                <a:latin typeface="Calibri"/>
              </a:rPr>
              <a:t>Benefits</a:t>
            </a:r>
          </a:p>
        </p:txBody>
      </p:sp>
      <p:sp>
        <p:nvSpPr>
          <p:cNvPr id="11" name="TextBox 10"/>
          <p:cNvSpPr txBox="1"/>
          <p:nvPr/>
        </p:nvSpPr>
        <p:spPr>
          <a:xfrm>
            <a:off x="3736109" y="4740000"/>
            <a:ext cx="7900000" cy="900000"/>
          </a:xfrm>
          <a:prstGeom prst="rect">
            <a:avLst/>
          </a:prstGeom>
          <a:noFill/>
        </p:spPr>
        <p:txBody>
          <a:bodyPr wrap="square">
            <a:spAutoFit/>
          </a:bodyPr>
          <a:lstStyle/>
          <a:p>
            <a:pPr marL="228600" indent="-228600" algn="l">
              <a:lnSpc>
                <a:spcPct val="110000"/>
              </a:lnSpc>
              <a:spcAft>
                <a:spcPts val="600"/>
              </a:spcAft>
              <a:buFont typeface="Arial"/>
              <a:buChar char="•"/>
            </a:pPr>
            <a:r>
              <a:rPr sz="1300">
                <a:solidFill>
                  <a:srgbClr val="000000"/>
                </a:solidFill>
                <a:latin typeface="Calibri"/>
              </a:rPr>
              <a:t>Detects possible duplicates</a:t>
            </a:r>
          </a:p>
          <a:p>
            <a:pPr marL="228600" indent="-228600" algn="l">
              <a:lnSpc>
                <a:spcPct val="110000"/>
              </a:lnSpc>
              <a:spcAft>
                <a:spcPts val="600"/>
              </a:spcAft>
              <a:buFont typeface="Arial"/>
              <a:buChar char="•"/>
            </a:pPr>
            <a:r>
              <a:rPr sz="1300">
                <a:solidFill>
                  <a:srgbClr val="000000"/>
                </a:solidFill>
                <a:latin typeface="Calibri"/>
              </a:rPr>
              <a:t>Ranks relevant questions</a:t>
            </a:r>
          </a:p>
          <a:p>
            <a:pPr marL="228600" indent="-228600" algn="l">
              <a:lnSpc>
                <a:spcPct val="110000"/>
              </a:lnSpc>
              <a:spcAft>
                <a:spcPts val="600"/>
              </a:spcAft>
              <a:buFont typeface="Arial"/>
              <a:buChar char="•"/>
            </a:pPr>
            <a:r>
              <a:rPr sz="1300">
                <a:solidFill>
                  <a:srgbClr val="000000"/>
                </a:solidFill>
                <a:latin typeface="Calibri"/>
              </a:rPr>
              <a:t>Reduces redundant posts</a:t>
            </a:r>
          </a:p>
          <a:p>
            <a:pPr marL="228600" indent="-228600" algn="l">
              <a:lnSpc>
                <a:spcPct val="110000"/>
              </a:lnSpc>
              <a:spcAft>
                <a:spcPts val="600"/>
              </a:spcAft>
              <a:buFont typeface="Arial"/>
              <a:buChar char="•"/>
            </a:pPr>
            <a:r>
              <a:rPr sz="1300">
                <a:solidFill>
                  <a:srgbClr val="000000"/>
                </a:solidFill>
                <a:latin typeface="Calibri"/>
              </a:rPr>
              <a:t>Improves search organization</a:t>
            </a:r>
          </a:p>
        </p:txBody>
      </p:sp>
    </p:spTree>
    <p:extLst>
      <p:ext uri="{BB962C8B-B14F-4D97-AF65-F5344CB8AC3E}">
        <p14:creationId xmlns:p14="http://schemas.microsoft.com/office/powerpoint/2010/main" val="106092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p:cNvSpPr txBox="1"/>
          <p:nvPr/>
        </p:nvSpPr>
        <p:spPr>
          <a:xfrm>
            <a:off x="3736109" y="950000"/>
            <a:ext cx="7900000" cy="3100000"/>
          </a:xfrm>
          <a:prstGeom prst="rect">
            <a:avLst/>
          </a:prstGeom>
          <a:noFill/>
        </p:spPr>
        <p:txBody>
          <a:bodyPr wrap="square">
            <a:spAutoFit/>
          </a:bodyPr>
          <a:lstStyle/>
          <a:p>
            <a:pPr marL="228600" indent="-228600" algn="l">
              <a:lnSpc>
                <a:spcPct val="120000"/>
              </a:lnSpc>
              <a:spcAft>
                <a:spcPts val="1200"/>
              </a:spcAft>
              <a:buFont typeface="Arial"/>
              <a:buChar char="•"/>
            </a:pPr>
            <a:r>
              <a:rPr sz="1700">
                <a:solidFill>
                  <a:srgbClr val="000000"/>
                </a:solidFill>
                <a:latin typeface="Calibri"/>
              </a:rPr>
              <a:t>The project applies DSA to a real-world Q&amp;A problem.</a:t>
            </a:r>
          </a:p>
          <a:p>
            <a:pPr marL="228600" indent="-228600" algn="l">
              <a:lnSpc>
                <a:spcPct val="120000"/>
              </a:lnSpc>
              <a:spcAft>
                <a:spcPts val="1200"/>
              </a:spcAft>
              <a:buFont typeface="Arial"/>
              <a:buChar char="•"/>
            </a:pPr>
            <a:r>
              <a:rPr sz="1700">
                <a:solidFill>
                  <a:srgbClr val="000000"/>
                </a:solidFill>
                <a:latin typeface="Calibri"/>
              </a:rPr>
              <a:t>Text preprocessing creates a consistent representation.</a:t>
            </a:r>
          </a:p>
          <a:p>
            <a:pPr marL="228600" indent="-228600" algn="l">
              <a:lnSpc>
                <a:spcPct val="120000"/>
              </a:lnSpc>
              <a:spcAft>
                <a:spcPts val="1200"/>
              </a:spcAft>
              <a:buFont typeface="Arial"/>
              <a:buChar char="•"/>
            </a:pPr>
            <a:r>
              <a:rPr sz="1700">
                <a:solidFill>
                  <a:srgbClr val="000000"/>
                </a:solidFill>
                <a:latin typeface="Calibri"/>
              </a:rPr>
              <a:t>HashMap and HashSet support efficient indexing and set operations.</a:t>
            </a:r>
          </a:p>
          <a:p>
            <a:pPr marL="228600" indent="-228600" algn="l">
              <a:lnSpc>
                <a:spcPct val="120000"/>
              </a:lnSpc>
              <a:spcAft>
                <a:spcPts val="1200"/>
              </a:spcAft>
              <a:buFont typeface="Arial"/>
              <a:buChar char="•"/>
            </a:pPr>
            <a:r>
              <a:rPr sz="1700">
                <a:solidFill>
                  <a:srgbClr val="000000"/>
                </a:solidFill>
                <a:latin typeface="Calibri"/>
              </a:rPr>
              <a:t>Jaccard Similarity measures similarity between questions.</a:t>
            </a:r>
          </a:p>
          <a:p>
            <a:pPr marL="228600" indent="-228600" algn="l">
              <a:lnSpc>
                <a:spcPct val="120000"/>
              </a:lnSpc>
              <a:spcAft>
                <a:spcPts val="1200"/>
              </a:spcAft>
              <a:buFont typeface="Arial"/>
              <a:buChar char="•"/>
            </a:pPr>
            <a:r>
              <a:rPr sz="1700">
                <a:solidFill>
                  <a:srgbClr val="000000"/>
                </a:solidFill>
                <a:latin typeface="Calibri"/>
              </a:rPr>
              <a:t>Priority Queue ranks the most relevant candidates.</a:t>
            </a:r>
          </a:p>
          <a:p>
            <a:pPr marL="228600" indent="-228600" algn="l">
              <a:lnSpc>
                <a:spcPct val="120000"/>
              </a:lnSpc>
              <a:spcAft>
                <a:spcPts val="1200"/>
              </a:spcAft>
              <a:buFont typeface="Arial"/>
              <a:buChar char="•"/>
            </a:pPr>
            <a:r>
              <a:rPr sz="1700">
                <a:solidFill>
                  <a:srgbClr val="000000"/>
                </a:solidFill>
                <a:latin typeface="Calibri"/>
              </a:rPr>
              <a:t>The system can help prevent redundant questions.</a:t>
            </a:r>
          </a:p>
        </p:txBody>
      </p:sp>
      <p:sp>
        <p:nvSpPr>
          <p:cNvPr id="5" name="Rounded Rectangle 4"/>
          <p:cNvSpPr/>
          <p:nvPr/>
        </p:nvSpPr>
        <p:spPr>
          <a:xfrm>
            <a:off x="3736109" y="4350000"/>
            <a:ext cx="7900000" cy="1150000"/>
          </a:xfrm>
          <a:prstGeom prst="round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wrap="square" lIns="220000" rIns="220000" rtlCol="0" anchor="ctr"/>
          <a:lstStyle/>
          <a:p>
            <a:pPr algn="ctr">
              <a:lnSpc>
                <a:spcPct val="120000"/>
              </a:lnSpc>
            </a:pPr>
            <a:r>
              <a:rPr sz="1500" i="1">
                <a:solidFill>
                  <a:srgbClr val="FFFFFF"/>
                </a:solidFill>
                <a:latin typeface="Calibri"/>
              </a:rPr>
              <a:t>“Our approach demonstrates how fundamental DSA concepts can be combined to solve a practical information retrieval problem.”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p:cNvSpPr txBox="1"/>
          <p:nvPr/>
        </p:nvSpPr>
        <p:spPr>
          <a:xfrm>
            <a:off x="3736109" y="900000"/>
            <a:ext cx="3500000" cy="350000"/>
          </a:xfrm>
          <a:prstGeom prst="rect">
            <a:avLst/>
          </a:prstGeom>
          <a:noFill/>
        </p:spPr>
        <p:txBody>
          <a:bodyPr wrap="square" anchor="t">
            <a:spAutoFit/>
          </a:bodyPr>
          <a:lstStyle/>
          <a:p>
            <a:pPr algn="l">
              <a:lnSpc>
                <a:spcPct val="110000"/>
              </a:lnSpc>
            </a:pPr>
            <a:r>
              <a:rPr sz="1500" b="1" i="0">
                <a:solidFill>
                  <a:srgbClr val="C00000"/>
                </a:solidFill>
                <a:latin typeface="Calibri"/>
              </a:rPr>
              <a:t>Current System</a:t>
            </a:r>
          </a:p>
        </p:txBody>
      </p:sp>
      <p:sp>
        <p:nvSpPr>
          <p:cNvPr id="6" name="Rounded Rectangle 5"/>
          <p:cNvSpPr/>
          <p:nvPr/>
        </p:nvSpPr>
        <p:spPr>
          <a:xfrm>
            <a:off x="3736109" y="1330000"/>
            <a:ext cx="3500000" cy="48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200" b="1">
                <a:solidFill>
                  <a:srgbClr val="FFFFFF"/>
                </a:solidFill>
                <a:latin typeface="Calibri"/>
              </a:rPr>
              <a:t>Text-based similarity</a:t>
            </a:r>
          </a:p>
        </p:txBody>
      </p:sp>
      <p:sp>
        <p:nvSpPr>
          <p:cNvPr id="7" name="Down Arrow 6"/>
          <p:cNvSpPr/>
          <p:nvPr/>
        </p:nvSpPr>
        <p:spPr>
          <a:xfrm>
            <a:off x="5396109" y="1825000"/>
            <a:ext cx="180000" cy="7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736109" y="1910000"/>
            <a:ext cx="3500000" cy="48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200" b="1">
                <a:solidFill>
                  <a:srgbClr val="FFFFFF"/>
                </a:solidFill>
                <a:latin typeface="Calibri"/>
              </a:rPr>
              <a:t>Hashing</a:t>
            </a:r>
          </a:p>
        </p:txBody>
      </p:sp>
      <p:sp>
        <p:nvSpPr>
          <p:cNvPr id="9" name="Down Arrow 8"/>
          <p:cNvSpPr/>
          <p:nvPr/>
        </p:nvSpPr>
        <p:spPr>
          <a:xfrm>
            <a:off x="5396109" y="2405000"/>
            <a:ext cx="180000" cy="7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736109" y="2490000"/>
            <a:ext cx="3500000" cy="48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200" b="1">
                <a:solidFill>
                  <a:srgbClr val="FFFFFF"/>
                </a:solidFill>
                <a:latin typeface="Calibri"/>
              </a:rPr>
              <a:t>Jaccard Similarity</a:t>
            </a:r>
          </a:p>
        </p:txBody>
      </p:sp>
      <p:sp>
        <p:nvSpPr>
          <p:cNvPr id="11" name="Down Arrow 10"/>
          <p:cNvSpPr/>
          <p:nvPr/>
        </p:nvSpPr>
        <p:spPr>
          <a:xfrm>
            <a:off x="5396109" y="2985000"/>
            <a:ext cx="180000" cy="7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36109" y="3070000"/>
            <a:ext cx="3500000" cy="480000"/>
          </a:xfrm>
          <a:prstGeom prst="round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200" b="1">
                <a:solidFill>
                  <a:srgbClr val="FFFFFF"/>
                </a:solidFill>
                <a:latin typeface="Calibri"/>
              </a:rPr>
              <a:t>Priority Queue</a:t>
            </a:r>
          </a:p>
        </p:txBody>
      </p:sp>
      <p:sp>
        <p:nvSpPr>
          <p:cNvPr id="13" name="TextBox 12"/>
          <p:cNvSpPr txBox="1"/>
          <p:nvPr/>
        </p:nvSpPr>
        <p:spPr>
          <a:xfrm>
            <a:off x="7550000" y="900000"/>
            <a:ext cx="4100000" cy="350000"/>
          </a:xfrm>
          <a:prstGeom prst="rect">
            <a:avLst/>
          </a:prstGeom>
          <a:noFill/>
        </p:spPr>
        <p:txBody>
          <a:bodyPr wrap="square" anchor="t">
            <a:spAutoFit/>
          </a:bodyPr>
          <a:lstStyle/>
          <a:p>
            <a:pPr algn="l">
              <a:lnSpc>
                <a:spcPct val="110000"/>
              </a:lnSpc>
            </a:pPr>
            <a:r>
              <a:rPr sz="1500" b="1" i="0">
                <a:solidFill>
                  <a:srgbClr val="C00000"/>
                </a:solidFill>
                <a:latin typeface="Calibri"/>
              </a:rPr>
              <a:t>Future Enhancements</a:t>
            </a:r>
          </a:p>
        </p:txBody>
      </p:sp>
      <p:sp>
        <p:nvSpPr>
          <p:cNvPr id="14" name="TextBox 13"/>
          <p:cNvSpPr txBox="1"/>
          <p:nvPr/>
        </p:nvSpPr>
        <p:spPr>
          <a:xfrm>
            <a:off x="7550000" y="1330000"/>
            <a:ext cx="4100000" cy="3400000"/>
          </a:xfrm>
          <a:prstGeom prst="rect">
            <a:avLst/>
          </a:prstGeom>
          <a:noFill/>
        </p:spPr>
        <p:txBody>
          <a:bodyPr wrap="square">
            <a:spAutoFit/>
          </a:bodyPr>
          <a:lstStyle/>
          <a:p>
            <a:pPr marL="228600" indent="-228600" algn="l">
              <a:lnSpc>
                <a:spcPct val="112000"/>
              </a:lnSpc>
              <a:spcAft>
                <a:spcPts val="800"/>
              </a:spcAft>
              <a:buFont typeface="Arial"/>
              <a:buChar char="•"/>
            </a:pPr>
            <a:r>
              <a:rPr sz="1250">
                <a:solidFill>
                  <a:srgbClr val="000000"/>
                </a:solidFill>
                <a:latin typeface="Calibri"/>
              </a:rPr>
              <a:t>MinHash – faster similarity estimation</a:t>
            </a:r>
          </a:p>
          <a:p>
            <a:pPr marL="228600" indent="-228600" algn="l">
              <a:lnSpc>
                <a:spcPct val="112000"/>
              </a:lnSpc>
              <a:spcAft>
                <a:spcPts val="800"/>
              </a:spcAft>
              <a:buFont typeface="Arial"/>
              <a:buChar char="•"/>
            </a:pPr>
            <a:r>
              <a:rPr sz="1250">
                <a:solidFill>
                  <a:srgbClr val="000000"/>
                </a:solidFill>
                <a:latin typeface="Calibri"/>
              </a:rPr>
              <a:t>LSH – scalable candidate retrieval</a:t>
            </a:r>
          </a:p>
          <a:p>
            <a:pPr marL="228600" indent="-228600" algn="l">
              <a:lnSpc>
                <a:spcPct val="112000"/>
              </a:lnSpc>
              <a:spcAft>
                <a:spcPts val="800"/>
              </a:spcAft>
              <a:buFont typeface="Arial"/>
              <a:buChar char="•"/>
            </a:pPr>
            <a:r>
              <a:rPr sz="1250">
                <a:solidFill>
                  <a:srgbClr val="000000"/>
                </a:solidFill>
                <a:latin typeface="Calibri"/>
              </a:rPr>
              <a:t>Semantic similarity – understand meaning beyond word overlap</a:t>
            </a:r>
          </a:p>
          <a:p>
            <a:pPr marL="228600" indent="-228600" algn="l">
              <a:lnSpc>
                <a:spcPct val="112000"/>
              </a:lnSpc>
              <a:spcAft>
                <a:spcPts val="800"/>
              </a:spcAft>
              <a:buFont typeface="Arial"/>
              <a:buChar char="•"/>
            </a:pPr>
            <a:r>
              <a:rPr sz="1250">
                <a:solidFill>
                  <a:srgbClr val="000000"/>
                </a:solidFill>
                <a:latin typeface="Calibri"/>
              </a:rPr>
              <a:t>Embeddings – improve similarity detection</a:t>
            </a:r>
          </a:p>
          <a:p>
            <a:pPr marL="228600" indent="-228600" algn="l">
              <a:lnSpc>
                <a:spcPct val="112000"/>
              </a:lnSpc>
              <a:spcAft>
                <a:spcPts val="800"/>
              </a:spcAft>
              <a:buFont typeface="Arial"/>
              <a:buChar char="•"/>
            </a:pPr>
            <a:r>
              <a:rPr sz="1250">
                <a:solidFill>
                  <a:srgbClr val="000000"/>
                </a:solidFill>
                <a:latin typeface="Calibri"/>
              </a:rPr>
              <a:t>Machine Learning – intelligent duplicate classification</a:t>
            </a:r>
          </a:p>
          <a:p>
            <a:pPr marL="228600" indent="-228600" algn="l">
              <a:lnSpc>
                <a:spcPct val="112000"/>
              </a:lnSpc>
              <a:spcAft>
                <a:spcPts val="800"/>
              </a:spcAft>
              <a:buFont typeface="Arial"/>
              <a:buChar char="•"/>
            </a:pPr>
            <a:r>
              <a:rPr sz="1250">
                <a:solidFill>
                  <a:srgbClr val="000000"/>
                </a:solidFill>
                <a:latin typeface="Calibri"/>
              </a:rPr>
              <a:t>Multilingual support – detect duplicates across languages</a:t>
            </a:r>
          </a:p>
          <a:p>
            <a:pPr marL="228600" indent="-228600" algn="l">
              <a:lnSpc>
                <a:spcPct val="112000"/>
              </a:lnSpc>
              <a:spcAft>
                <a:spcPts val="800"/>
              </a:spcAft>
              <a:buFont typeface="Arial"/>
              <a:buChar char="•"/>
            </a:pPr>
            <a:r>
              <a:rPr sz="1250">
                <a:solidFill>
                  <a:srgbClr val="000000"/>
                </a:solidFill>
                <a:latin typeface="Calibri"/>
              </a:rPr>
              <a:t>Real-time large-scale deployment</a:t>
            </a:r>
          </a:p>
        </p:txBody>
      </p:sp>
      <p:sp>
        <p:nvSpPr>
          <p:cNvPr id="15" name="Rounded Rectangle 14"/>
          <p:cNvSpPr/>
          <p:nvPr/>
        </p:nvSpPr>
        <p:spPr>
          <a:xfrm>
            <a:off x="3622873" y="5450000"/>
            <a:ext cx="4946253" cy="90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2600" b="1">
                <a:solidFill>
                  <a:srgbClr val="FFFFFF"/>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1144</Words>
  <Application>Microsoft Office PowerPoint</Application>
  <PresentationFormat>Widescreen</PresentationFormat>
  <Paragraphs>181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       Data Structures and Algorithms -3 (25CS2103E)  Near-Duplicate Question Finder for Q&amp;A Platforms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Shashanth Manchi</cp:lastModifiedBy>
  <cp:revision>21</cp:revision>
  <dcterms:created xsi:type="dcterms:W3CDTF">2024-08-29T05:25:00Z</dcterms:created>
  <dcterms:modified xsi:type="dcterms:W3CDTF">2026-10-12T05:09:51Z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